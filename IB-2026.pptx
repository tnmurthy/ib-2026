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5" r:id="rId4"/>
    <p:sldId id="258" r:id="rId5"/>
    <p:sldId id="259" r:id="rId6"/>
    <p:sldId id="266" r:id="rId7"/>
    <p:sldId id="267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2D5AEC-62E6-4D3C-AC2D-27E77538625D}">
          <p14:sldIdLst>
            <p14:sldId id="256"/>
          </p14:sldIdLst>
        </p14:section>
        <p14:section name="Summary Section" id="{2DE5CBAC-EF01-443E-9AA2-85B6EB64AF59}">
          <p14:sldIdLst/>
        </p14:section>
        <p14:section name="Context setting" id="{6C9DA201-0E67-4444-AF2D-BE26A709782F}">
          <p14:sldIdLst>
            <p14:sldId id="257"/>
            <p14:sldId id="265"/>
            <p14:sldId id="258"/>
            <p14:sldId id="259"/>
            <p14:sldId id="266"/>
            <p14:sldId id="267"/>
            <p14:sldId id="263"/>
            <p14:sldId id="264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EA8446-CB01-45A0-82D5-4AB2B2F6AC6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36A8F92-482E-4AC1-AC99-4792D8CF97A3}">
      <dgm:prSet phldrT="[Text]"/>
      <dgm:spPr/>
      <dgm:t>
        <a:bodyPr/>
        <a:lstStyle/>
        <a:p>
          <a:r>
            <a:rPr lang="en-IN" dirty="0"/>
            <a:t>Primary ICP: Tier-3 Colleges</a:t>
          </a:r>
        </a:p>
      </dgm:t>
    </dgm:pt>
    <dgm:pt modelId="{8D36C201-34D2-42BD-A9E9-ED3DCABF1B9B}" type="parTrans" cxnId="{C2E159BA-62EA-487C-AC55-36CCE96AB18B}">
      <dgm:prSet/>
      <dgm:spPr/>
      <dgm:t>
        <a:bodyPr/>
        <a:lstStyle/>
        <a:p>
          <a:endParaRPr lang="en-IN"/>
        </a:p>
      </dgm:t>
    </dgm:pt>
    <dgm:pt modelId="{C9D99FE5-80EC-4113-A9B7-DE77AF8BBCC7}" type="sibTrans" cxnId="{C2E159BA-62EA-487C-AC55-36CCE96AB18B}">
      <dgm:prSet/>
      <dgm:spPr/>
      <dgm:t>
        <a:bodyPr/>
        <a:lstStyle/>
        <a:p>
          <a:endParaRPr lang="en-IN"/>
        </a:p>
      </dgm:t>
    </dgm:pt>
    <dgm:pt modelId="{4429E82E-D8F9-4958-B7F0-E5589A293E7C}">
      <dgm:prSet/>
      <dgm:spPr>
        <a:noFill/>
      </dgm:spPr>
      <dgm:t>
        <a:bodyPr/>
        <a:lstStyle/>
        <a:p>
          <a:r>
            <a:rPr lang="en-US" dirty="0"/>
            <a:t>Autonomous and private engineering/degree colleges</a:t>
          </a:r>
          <a:endParaRPr lang="en-IN" dirty="0"/>
        </a:p>
      </dgm:t>
    </dgm:pt>
    <dgm:pt modelId="{78AF28A8-A6C1-46EE-BDE6-0806B6D2A460}" type="parTrans" cxnId="{50C611AE-6ADE-4ABE-B684-FB9BACB51E7B}">
      <dgm:prSet/>
      <dgm:spPr/>
      <dgm:t>
        <a:bodyPr/>
        <a:lstStyle/>
        <a:p>
          <a:endParaRPr lang="en-IN"/>
        </a:p>
      </dgm:t>
    </dgm:pt>
    <dgm:pt modelId="{710E06F5-FCFF-4D6D-B294-3733F8DD0D43}" type="sibTrans" cxnId="{50C611AE-6ADE-4ABE-B684-FB9BACB51E7B}">
      <dgm:prSet/>
      <dgm:spPr/>
      <dgm:t>
        <a:bodyPr/>
        <a:lstStyle/>
        <a:p>
          <a:endParaRPr lang="en-IN"/>
        </a:p>
      </dgm:t>
    </dgm:pt>
    <dgm:pt modelId="{33860E71-114D-480F-A10C-D150CF506864}">
      <dgm:prSet custT="1"/>
      <dgm:spPr>
        <a:solidFill>
          <a:srgbClr val="B71E42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206878" tIns="0" rIns="206878" bIns="0" numCol="1" spcCol="1270" anchor="ctr" anchorCtr="0"/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solidFill>
                <a:prstClr val="white"/>
              </a:solidFill>
              <a:latin typeface="Gill Sans MT"/>
              <a:ea typeface="+mn-ea"/>
              <a:cs typeface="+mn-cs"/>
            </a:rPr>
            <a:t>Pain Points</a:t>
          </a:r>
        </a:p>
      </dgm:t>
    </dgm:pt>
    <dgm:pt modelId="{F7DB40A1-F628-456F-837D-46153A829360}" type="parTrans" cxnId="{38ADAB27-665F-41DC-938F-CC82A2F6F875}">
      <dgm:prSet/>
      <dgm:spPr/>
      <dgm:t>
        <a:bodyPr/>
        <a:lstStyle/>
        <a:p>
          <a:endParaRPr lang="en-IN"/>
        </a:p>
      </dgm:t>
    </dgm:pt>
    <dgm:pt modelId="{335733A0-D7ED-4235-8F3B-38379EEBB81F}" type="sibTrans" cxnId="{38ADAB27-665F-41DC-938F-CC82A2F6F875}">
      <dgm:prSet/>
      <dgm:spPr/>
      <dgm:t>
        <a:bodyPr/>
        <a:lstStyle/>
        <a:p>
          <a:endParaRPr lang="en-IN"/>
        </a:p>
      </dgm:t>
    </dgm:pt>
    <dgm:pt modelId="{5702DB48-5B8A-49E9-B3F5-AA34899B21A7}">
      <dgm:prSet/>
      <dgm:spPr>
        <a:noFill/>
      </dgm:spPr>
      <dgm:t>
        <a:bodyPr/>
        <a:lstStyle/>
        <a:p>
          <a:r>
            <a:rPr lang="en-US" dirty="0"/>
            <a:t>Weak placement records compared to Tier-1/2 colleges</a:t>
          </a:r>
          <a:endParaRPr lang="en-IN" dirty="0"/>
        </a:p>
      </dgm:t>
    </dgm:pt>
    <dgm:pt modelId="{E433EF3A-9D3C-4EBD-B6E7-C8EB0943C478}" type="parTrans" cxnId="{05EAF2AE-5E2B-43EE-B3F4-54A5786E3D7F}">
      <dgm:prSet/>
      <dgm:spPr/>
      <dgm:t>
        <a:bodyPr/>
        <a:lstStyle/>
        <a:p>
          <a:endParaRPr lang="en-IN"/>
        </a:p>
      </dgm:t>
    </dgm:pt>
    <dgm:pt modelId="{90995551-E573-425A-A90B-46BA64540B5C}" type="sibTrans" cxnId="{05EAF2AE-5E2B-43EE-B3F4-54A5786E3D7F}">
      <dgm:prSet/>
      <dgm:spPr/>
      <dgm:t>
        <a:bodyPr/>
        <a:lstStyle/>
        <a:p>
          <a:endParaRPr lang="en-IN"/>
        </a:p>
      </dgm:t>
    </dgm:pt>
    <dgm:pt modelId="{86AF42F4-6E62-4C19-A54F-ACC5EE5F5483}">
      <dgm:prSet/>
      <dgm:spPr>
        <a:noFill/>
      </dgm:spPr>
      <dgm:t>
        <a:bodyPr/>
        <a:lstStyle/>
        <a:p>
          <a:r>
            <a:rPr lang="en-US" dirty="0"/>
            <a:t>Lack of industry connections and mentorship networks</a:t>
          </a:r>
          <a:endParaRPr lang="en-IN" dirty="0"/>
        </a:p>
      </dgm:t>
    </dgm:pt>
    <dgm:pt modelId="{362B4864-8631-4F89-831B-69CBFC950FAC}" type="parTrans" cxnId="{858C2127-3030-4745-A9A4-084F775D5ED5}">
      <dgm:prSet/>
      <dgm:spPr/>
      <dgm:t>
        <a:bodyPr/>
        <a:lstStyle/>
        <a:p>
          <a:endParaRPr lang="en-IN"/>
        </a:p>
      </dgm:t>
    </dgm:pt>
    <dgm:pt modelId="{DE63D76D-37E2-45F9-8767-2159633D1BF9}" type="sibTrans" cxnId="{858C2127-3030-4745-A9A4-084F775D5ED5}">
      <dgm:prSet/>
      <dgm:spPr/>
      <dgm:t>
        <a:bodyPr/>
        <a:lstStyle/>
        <a:p>
          <a:endParaRPr lang="en-IN"/>
        </a:p>
      </dgm:t>
    </dgm:pt>
    <dgm:pt modelId="{4DF87933-5BCB-4C93-A59F-B191A2475D8F}">
      <dgm:prSet/>
      <dgm:spPr>
        <a:noFill/>
      </dgm:spPr>
      <dgm:t>
        <a:bodyPr/>
        <a:lstStyle/>
        <a:p>
          <a:r>
            <a:rPr lang="en-US" dirty="0"/>
            <a:t>Students have talent but lack direction and real-world exposure</a:t>
          </a:r>
          <a:endParaRPr lang="en-IN" dirty="0"/>
        </a:p>
      </dgm:t>
    </dgm:pt>
    <dgm:pt modelId="{B153FA15-9FB4-4CCF-92E3-15CF764999C6}" type="parTrans" cxnId="{2F7C6D5B-4A7D-4DF4-AF3B-8309ACE7A7C1}">
      <dgm:prSet/>
      <dgm:spPr/>
      <dgm:t>
        <a:bodyPr/>
        <a:lstStyle/>
        <a:p>
          <a:endParaRPr lang="en-IN"/>
        </a:p>
      </dgm:t>
    </dgm:pt>
    <dgm:pt modelId="{08C533ED-4528-4414-ACAD-B3A1ABF77612}" type="sibTrans" cxnId="{2F7C6D5B-4A7D-4DF4-AF3B-8309ACE7A7C1}">
      <dgm:prSet/>
      <dgm:spPr/>
      <dgm:t>
        <a:bodyPr/>
        <a:lstStyle/>
        <a:p>
          <a:endParaRPr lang="en-IN"/>
        </a:p>
      </dgm:t>
    </dgm:pt>
    <dgm:pt modelId="{87F42344-EDD0-4ADE-8FF6-4819E65B01AC}">
      <dgm:prSet/>
      <dgm:spPr>
        <a:noFill/>
      </dgm:spPr>
      <dgm:t>
        <a:bodyPr/>
        <a:lstStyle/>
        <a:p>
          <a:r>
            <a:rPr lang="en-US" dirty="0"/>
            <a:t>Management wants to improve brand reputation and student outcomes</a:t>
          </a:r>
          <a:endParaRPr lang="en-IN" dirty="0"/>
        </a:p>
      </dgm:t>
    </dgm:pt>
    <dgm:pt modelId="{9308DCFB-5590-44B0-BB7F-E9F62B212733}" type="parTrans" cxnId="{948A6261-0824-4702-87AF-11E351EFC4CD}">
      <dgm:prSet/>
      <dgm:spPr/>
      <dgm:t>
        <a:bodyPr/>
        <a:lstStyle/>
        <a:p>
          <a:endParaRPr lang="en-IN"/>
        </a:p>
      </dgm:t>
    </dgm:pt>
    <dgm:pt modelId="{1A4145F6-F59D-4EDB-8633-D4332838E192}" type="sibTrans" cxnId="{948A6261-0824-4702-87AF-11E351EFC4CD}">
      <dgm:prSet/>
      <dgm:spPr/>
      <dgm:t>
        <a:bodyPr/>
        <a:lstStyle/>
        <a:p>
          <a:endParaRPr lang="en-IN"/>
        </a:p>
      </dgm:t>
    </dgm:pt>
    <dgm:pt modelId="{8F7477E8-43E8-4C28-B029-4460294DCD30}">
      <dgm:prSet/>
      <dgm:spPr/>
      <dgm:t>
        <a:bodyPr/>
        <a:lstStyle/>
        <a:p>
          <a:r>
            <a:rPr lang="en-IN" dirty="0"/>
            <a:t>Ambition Level:</a:t>
          </a:r>
        </a:p>
      </dgm:t>
    </dgm:pt>
    <dgm:pt modelId="{3B848BD9-925D-4BAF-944A-B6F70C0B535C}" type="parTrans" cxnId="{3CFF8FE7-31B7-44B2-B9A4-366E186903C6}">
      <dgm:prSet/>
      <dgm:spPr/>
      <dgm:t>
        <a:bodyPr/>
        <a:lstStyle/>
        <a:p>
          <a:endParaRPr lang="en-IN"/>
        </a:p>
      </dgm:t>
    </dgm:pt>
    <dgm:pt modelId="{5F635134-E29F-4FB9-B86A-58915DABD1D9}" type="sibTrans" cxnId="{3CFF8FE7-31B7-44B2-B9A4-366E186903C6}">
      <dgm:prSet/>
      <dgm:spPr/>
      <dgm:t>
        <a:bodyPr/>
        <a:lstStyle/>
        <a:p>
          <a:endParaRPr lang="en-IN"/>
        </a:p>
      </dgm:t>
    </dgm:pt>
    <dgm:pt modelId="{89851500-4AD6-48B7-A3E6-92E2EC897F08}">
      <dgm:prSet/>
      <dgm:spPr>
        <a:noFill/>
      </dgm:spPr>
      <dgm:t>
        <a:bodyPr/>
        <a:lstStyle/>
        <a:p>
          <a:r>
            <a:rPr lang="en-US" dirty="0"/>
            <a:t>Principal/Management has vision for innovation but lacks structured framework</a:t>
          </a:r>
          <a:endParaRPr lang="en-IN" dirty="0"/>
        </a:p>
      </dgm:t>
    </dgm:pt>
    <dgm:pt modelId="{BCAF6C35-D5D0-438A-8F43-EFB26DB063EF}" type="parTrans" cxnId="{98A31102-BB85-4F6A-9D2C-849842D64141}">
      <dgm:prSet/>
      <dgm:spPr/>
      <dgm:t>
        <a:bodyPr/>
        <a:lstStyle/>
        <a:p>
          <a:endParaRPr lang="en-IN"/>
        </a:p>
      </dgm:t>
    </dgm:pt>
    <dgm:pt modelId="{D6A2C3F2-1603-4792-A2F9-B2EDC902C961}" type="sibTrans" cxnId="{98A31102-BB85-4F6A-9D2C-849842D64141}">
      <dgm:prSet/>
      <dgm:spPr/>
      <dgm:t>
        <a:bodyPr/>
        <a:lstStyle/>
        <a:p>
          <a:endParaRPr lang="en-IN"/>
        </a:p>
      </dgm:t>
    </dgm:pt>
    <dgm:pt modelId="{057A0163-3AE8-41B4-8683-CAB42FC159C7}">
      <dgm:prSet/>
      <dgm:spPr>
        <a:noFill/>
      </dgm:spPr>
      <dgm:t>
        <a:bodyPr/>
        <a:lstStyle/>
        <a:p>
          <a:r>
            <a:rPr lang="en-US" dirty="0"/>
            <a:t>Open to multi-year partnerships (not just one-off events)</a:t>
          </a:r>
          <a:endParaRPr lang="en-IN" dirty="0"/>
        </a:p>
      </dgm:t>
    </dgm:pt>
    <dgm:pt modelId="{479E6E07-041E-41D2-99A5-25861F29999C}" type="parTrans" cxnId="{0C48F2E0-1615-4AEC-A865-5525CC086524}">
      <dgm:prSet/>
      <dgm:spPr/>
      <dgm:t>
        <a:bodyPr/>
        <a:lstStyle/>
        <a:p>
          <a:endParaRPr lang="en-IN"/>
        </a:p>
      </dgm:t>
    </dgm:pt>
    <dgm:pt modelId="{601B9FF7-114C-4A2C-825E-A8D5ECD852A3}" type="sibTrans" cxnId="{0C48F2E0-1615-4AEC-A865-5525CC086524}">
      <dgm:prSet/>
      <dgm:spPr/>
      <dgm:t>
        <a:bodyPr/>
        <a:lstStyle/>
        <a:p>
          <a:endParaRPr lang="en-IN"/>
        </a:p>
      </dgm:t>
    </dgm:pt>
    <dgm:pt modelId="{4BEB1301-453C-4216-B8CB-70E4A21D25A1}">
      <dgm:prSet/>
      <dgm:spPr>
        <a:noFill/>
      </dgm:spPr>
      <dgm:t>
        <a:bodyPr/>
        <a:lstStyle/>
        <a:p>
          <a:r>
            <a:rPr lang="en-US" dirty="0"/>
            <a:t>Willing to invest in ecosystem transformation (budget availability)</a:t>
          </a:r>
          <a:endParaRPr lang="en-IN" dirty="0"/>
        </a:p>
      </dgm:t>
    </dgm:pt>
    <dgm:pt modelId="{E2371082-952E-4221-8720-4757567DCBC5}" type="parTrans" cxnId="{D2EB2971-69F3-41A9-9EC7-D2A55A8686D7}">
      <dgm:prSet/>
      <dgm:spPr/>
      <dgm:t>
        <a:bodyPr/>
        <a:lstStyle/>
        <a:p>
          <a:endParaRPr lang="en-IN"/>
        </a:p>
      </dgm:t>
    </dgm:pt>
    <dgm:pt modelId="{3A2C51FB-378A-4378-B768-FB87673F81B5}" type="sibTrans" cxnId="{D2EB2971-69F3-41A9-9EC7-D2A55A8686D7}">
      <dgm:prSet/>
      <dgm:spPr/>
      <dgm:t>
        <a:bodyPr/>
        <a:lstStyle/>
        <a:p>
          <a:endParaRPr lang="en-IN"/>
        </a:p>
      </dgm:t>
    </dgm:pt>
    <dgm:pt modelId="{C34B80F2-77CE-4C7C-8336-A47328404B67}">
      <dgm:prSet/>
      <dgm:spPr/>
      <dgm:t>
        <a:bodyPr/>
        <a:lstStyle/>
        <a:p>
          <a:r>
            <a:rPr lang="en-IN" dirty="0"/>
            <a:t>Decision Makers:</a:t>
          </a:r>
        </a:p>
      </dgm:t>
    </dgm:pt>
    <dgm:pt modelId="{97CFEBBF-BB5F-42A8-AF36-5CC4D0D3970C}" type="parTrans" cxnId="{612678A7-72A4-43A6-8903-A33A3E8A9DFB}">
      <dgm:prSet/>
      <dgm:spPr/>
      <dgm:t>
        <a:bodyPr/>
        <a:lstStyle/>
        <a:p>
          <a:endParaRPr lang="en-IN"/>
        </a:p>
      </dgm:t>
    </dgm:pt>
    <dgm:pt modelId="{75D29454-4F5B-441B-B72A-BD549D1F49DD}" type="sibTrans" cxnId="{612678A7-72A4-43A6-8903-A33A3E8A9DFB}">
      <dgm:prSet/>
      <dgm:spPr/>
      <dgm:t>
        <a:bodyPr/>
        <a:lstStyle/>
        <a:p>
          <a:endParaRPr lang="en-IN"/>
        </a:p>
      </dgm:t>
    </dgm:pt>
    <dgm:pt modelId="{5381ED73-0496-41CA-B84A-48B5F4069BA3}">
      <dgm:prSet/>
      <dgm:spPr>
        <a:noFill/>
      </dgm:spPr>
      <dgm:t>
        <a:bodyPr/>
        <a:lstStyle/>
        <a:p>
          <a:r>
            <a:rPr lang="en-IN" dirty="0"/>
            <a:t>Principal/Director (final authority)</a:t>
          </a:r>
        </a:p>
      </dgm:t>
    </dgm:pt>
    <dgm:pt modelId="{7F0F7BF6-27DD-4A53-9EAF-1E5E8AF8E8C2}" type="parTrans" cxnId="{1CF1BEB2-1E84-4A88-BEDB-F82D5C28AE1C}">
      <dgm:prSet/>
      <dgm:spPr/>
      <dgm:t>
        <a:bodyPr/>
        <a:lstStyle/>
        <a:p>
          <a:endParaRPr lang="en-IN"/>
        </a:p>
      </dgm:t>
    </dgm:pt>
    <dgm:pt modelId="{2A874E2E-117F-4344-8B07-130D80358009}" type="sibTrans" cxnId="{1CF1BEB2-1E84-4A88-BEDB-F82D5C28AE1C}">
      <dgm:prSet/>
      <dgm:spPr/>
      <dgm:t>
        <a:bodyPr/>
        <a:lstStyle/>
        <a:p>
          <a:endParaRPr lang="en-IN"/>
        </a:p>
      </dgm:t>
    </dgm:pt>
    <dgm:pt modelId="{98DE2646-512E-4A10-9D9C-5C5AB2AB4710}">
      <dgm:prSet/>
      <dgm:spPr>
        <a:noFill/>
      </dgm:spPr>
      <dgm:t>
        <a:bodyPr/>
        <a:lstStyle/>
        <a:p>
          <a:r>
            <a:rPr lang="en-IN" dirty="0"/>
            <a:t>Dean (Academic)/HODs (influencers)</a:t>
          </a:r>
        </a:p>
      </dgm:t>
    </dgm:pt>
    <dgm:pt modelId="{E0F691DD-1BEA-4807-8245-A0856D742241}" type="parTrans" cxnId="{556D44B5-8254-4A70-8404-F3D2197C3E4B}">
      <dgm:prSet/>
      <dgm:spPr/>
      <dgm:t>
        <a:bodyPr/>
        <a:lstStyle/>
        <a:p>
          <a:endParaRPr lang="en-IN"/>
        </a:p>
      </dgm:t>
    </dgm:pt>
    <dgm:pt modelId="{61AD9D0D-FC23-4541-B189-80A88C09DD08}" type="sibTrans" cxnId="{556D44B5-8254-4A70-8404-F3D2197C3E4B}">
      <dgm:prSet/>
      <dgm:spPr/>
      <dgm:t>
        <a:bodyPr/>
        <a:lstStyle/>
        <a:p>
          <a:endParaRPr lang="en-IN"/>
        </a:p>
      </dgm:t>
    </dgm:pt>
    <dgm:pt modelId="{4E7E7DEB-82F1-436C-8D63-292000508E45}">
      <dgm:prSet/>
      <dgm:spPr>
        <a:noFill/>
      </dgm:spPr>
      <dgm:t>
        <a:bodyPr/>
        <a:lstStyle/>
        <a:p>
          <a:r>
            <a:rPr lang="en-IN" dirty="0"/>
            <a:t>Training &amp; Placement Officer (stakeholder)</a:t>
          </a:r>
        </a:p>
      </dgm:t>
    </dgm:pt>
    <dgm:pt modelId="{961BA0D6-8B40-49F8-B7C1-B3D66F10E024}" type="parTrans" cxnId="{2B7A6AF7-CC67-4123-8591-3C5AE526EE0B}">
      <dgm:prSet/>
      <dgm:spPr/>
      <dgm:t>
        <a:bodyPr/>
        <a:lstStyle/>
        <a:p>
          <a:endParaRPr lang="en-IN"/>
        </a:p>
      </dgm:t>
    </dgm:pt>
    <dgm:pt modelId="{D7C0D4F4-513C-4A54-B964-5D3F4E8488EE}" type="sibTrans" cxnId="{2B7A6AF7-CC67-4123-8591-3C5AE526EE0B}">
      <dgm:prSet/>
      <dgm:spPr/>
      <dgm:t>
        <a:bodyPr/>
        <a:lstStyle/>
        <a:p>
          <a:endParaRPr lang="en-IN"/>
        </a:p>
      </dgm:t>
    </dgm:pt>
    <dgm:pt modelId="{C657F81F-E3F9-4687-A6DE-F25E9557E955}">
      <dgm:prSet/>
      <dgm:spPr/>
      <dgm:t>
        <a:bodyPr/>
        <a:lstStyle/>
        <a:p>
          <a:r>
            <a:rPr lang="en-IN" dirty="0"/>
            <a:t>Indicators of Good-Fit ICP:</a:t>
          </a:r>
        </a:p>
      </dgm:t>
    </dgm:pt>
    <dgm:pt modelId="{C48CFA80-5D07-48D7-9791-6A0044A3A6EC}" type="parTrans" cxnId="{51C8503C-26C3-4129-853A-882046D11E57}">
      <dgm:prSet/>
      <dgm:spPr/>
      <dgm:t>
        <a:bodyPr/>
        <a:lstStyle/>
        <a:p>
          <a:endParaRPr lang="en-IN"/>
        </a:p>
      </dgm:t>
    </dgm:pt>
    <dgm:pt modelId="{A09F7BD9-74AB-4038-8C2F-7C2C07B5E832}" type="sibTrans" cxnId="{51C8503C-26C3-4129-853A-882046D11E57}">
      <dgm:prSet/>
      <dgm:spPr/>
      <dgm:t>
        <a:bodyPr/>
        <a:lstStyle/>
        <a:p>
          <a:endParaRPr lang="en-IN"/>
        </a:p>
      </dgm:t>
    </dgm:pt>
    <dgm:pt modelId="{18478C78-F9E1-4A59-BCD8-212471CE62DE}">
      <dgm:prSet/>
      <dgm:spPr>
        <a:noFill/>
      </dgm:spPr>
      <dgm:t>
        <a:bodyPr/>
        <a:lstStyle/>
        <a:p>
          <a:r>
            <a:rPr lang="en-US" dirty="0"/>
            <a:t>College recently started innovation/incubation cell but lacks traction</a:t>
          </a:r>
          <a:endParaRPr lang="en-IN" dirty="0"/>
        </a:p>
      </dgm:t>
    </dgm:pt>
    <dgm:pt modelId="{3861D55D-9BC8-40F5-B897-09132A6FE45C}" type="parTrans" cxnId="{4348EB72-F523-4021-AAAF-F08804A987CF}">
      <dgm:prSet/>
      <dgm:spPr/>
      <dgm:t>
        <a:bodyPr/>
        <a:lstStyle/>
        <a:p>
          <a:endParaRPr lang="en-IN"/>
        </a:p>
      </dgm:t>
    </dgm:pt>
    <dgm:pt modelId="{FF52229A-96E9-4316-A435-199C143079E2}" type="sibTrans" cxnId="{4348EB72-F523-4021-AAAF-F08804A987CF}">
      <dgm:prSet/>
      <dgm:spPr/>
      <dgm:t>
        <a:bodyPr/>
        <a:lstStyle/>
        <a:p>
          <a:endParaRPr lang="en-IN"/>
        </a:p>
      </dgm:t>
    </dgm:pt>
    <dgm:pt modelId="{C54B8814-D0DC-497E-BE9B-91389843FA23}">
      <dgm:prSet/>
      <dgm:spPr>
        <a:noFill/>
      </dgm:spPr>
      <dgm:t>
        <a:bodyPr/>
        <a:lstStyle/>
        <a:p>
          <a:r>
            <a:rPr lang="en-US" dirty="0"/>
            <a:t>Management has attended conferences about innovation/entrepreneurship</a:t>
          </a:r>
          <a:endParaRPr lang="en-IN" dirty="0"/>
        </a:p>
      </dgm:t>
    </dgm:pt>
    <dgm:pt modelId="{B46E39F6-882C-412B-93D3-B2A05A20352A}" type="parTrans" cxnId="{D2751C97-15BC-46EA-906B-4BF742F42202}">
      <dgm:prSet/>
      <dgm:spPr/>
      <dgm:t>
        <a:bodyPr/>
        <a:lstStyle/>
        <a:p>
          <a:endParaRPr lang="en-IN"/>
        </a:p>
      </dgm:t>
    </dgm:pt>
    <dgm:pt modelId="{CCF9A8A5-B389-494C-8F68-28CBAB41F9F3}" type="sibTrans" cxnId="{D2751C97-15BC-46EA-906B-4BF742F42202}">
      <dgm:prSet/>
      <dgm:spPr/>
      <dgm:t>
        <a:bodyPr/>
        <a:lstStyle/>
        <a:p>
          <a:endParaRPr lang="en-IN"/>
        </a:p>
      </dgm:t>
    </dgm:pt>
    <dgm:pt modelId="{ADE76BB3-7CDE-40D3-A2C7-DC6572C9EECF}">
      <dgm:prSet/>
      <dgm:spPr>
        <a:noFill/>
      </dgm:spPr>
      <dgm:t>
        <a:bodyPr/>
        <a:lstStyle/>
        <a:p>
          <a:r>
            <a:rPr lang="en-US" dirty="0"/>
            <a:t>College has alumni who became entrepreneurs (untapped potential)</a:t>
          </a:r>
          <a:endParaRPr lang="en-IN" dirty="0"/>
        </a:p>
      </dgm:t>
    </dgm:pt>
    <dgm:pt modelId="{250D8560-596F-48C1-A9DF-273D70599639}" type="parTrans" cxnId="{9D86FA39-724A-4889-AD65-40E4206F8370}">
      <dgm:prSet/>
      <dgm:spPr/>
      <dgm:t>
        <a:bodyPr/>
        <a:lstStyle/>
        <a:p>
          <a:endParaRPr lang="en-IN"/>
        </a:p>
      </dgm:t>
    </dgm:pt>
    <dgm:pt modelId="{E186F2A1-E11B-418D-B960-CC850512D633}" type="sibTrans" cxnId="{9D86FA39-724A-4889-AD65-40E4206F8370}">
      <dgm:prSet/>
      <dgm:spPr/>
      <dgm:t>
        <a:bodyPr/>
        <a:lstStyle/>
        <a:p>
          <a:endParaRPr lang="en-IN"/>
        </a:p>
      </dgm:t>
    </dgm:pt>
    <dgm:pt modelId="{4F2C81F3-9286-4162-8E1D-6CDDFCF55A47}">
      <dgm:prSet/>
      <dgm:spPr>
        <a:noFill/>
      </dgm:spPr>
      <dgm:t>
        <a:bodyPr/>
        <a:lstStyle/>
        <a:p>
          <a:r>
            <a:rPr lang="en-US" dirty="0"/>
            <a:t>Located in district headquarters or small cities with local industry presence</a:t>
          </a:r>
          <a:endParaRPr lang="en-IN" dirty="0"/>
        </a:p>
      </dgm:t>
    </dgm:pt>
    <dgm:pt modelId="{96BF10BC-312F-4E88-820D-126986F0F7AB}" type="parTrans" cxnId="{F00341BA-7013-4C18-BB74-6073456F6EEA}">
      <dgm:prSet/>
      <dgm:spPr/>
      <dgm:t>
        <a:bodyPr/>
        <a:lstStyle/>
        <a:p>
          <a:endParaRPr lang="en-IN"/>
        </a:p>
      </dgm:t>
    </dgm:pt>
    <dgm:pt modelId="{1453082B-CB43-4CAB-A00E-7D3222F9E203}" type="sibTrans" cxnId="{F00341BA-7013-4C18-BB74-6073456F6EEA}">
      <dgm:prSet/>
      <dgm:spPr/>
      <dgm:t>
        <a:bodyPr/>
        <a:lstStyle/>
        <a:p>
          <a:endParaRPr lang="en-IN"/>
        </a:p>
      </dgm:t>
    </dgm:pt>
    <dgm:pt modelId="{9CF1D26B-7E35-48C0-B567-A4708F15FC7C}">
      <dgm:prSet/>
      <dgm:spPr>
        <a:noFill/>
      </dgm:spPr>
      <dgm:t>
        <a:bodyPr/>
        <a:lstStyle/>
        <a:p>
          <a:r>
            <a:rPr lang="en-US" dirty="0"/>
            <a:t>Tier-3 cities and rural areas (focus: Telangana, Karnataka, Andhra Pradesh to start)</a:t>
          </a:r>
          <a:endParaRPr lang="en-IN" dirty="0"/>
        </a:p>
      </dgm:t>
    </dgm:pt>
    <dgm:pt modelId="{02509053-9889-4653-9705-496D6381068C}" type="parTrans" cxnId="{DB488E94-623F-44CA-94B9-77EA1B402F5A}">
      <dgm:prSet/>
      <dgm:spPr/>
      <dgm:t>
        <a:bodyPr/>
        <a:lstStyle/>
        <a:p>
          <a:endParaRPr lang="en-IN"/>
        </a:p>
      </dgm:t>
    </dgm:pt>
    <dgm:pt modelId="{2D5D2AA1-3067-449F-A2AF-96046D4ABEF7}" type="sibTrans" cxnId="{DB488E94-623F-44CA-94B9-77EA1B402F5A}">
      <dgm:prSet/>
      <dgm:spPr/>
      <dgm:t>
        <a:bodyPr/>
        <a:lstStyle/>
        <a:p>
          <a:endParaRPr lang="en-IN"/>
        </a:p>
      </dgm:t>
    </dgm:pt>
    <dgm:pt modelId="{A113F859-E59F-4B5B-A8F6-FAA0BD25C6E9}">
      <dgm:prSet/>
      <dgm:spPr>
        <a:noFill/>
      </dgm:spPr>
      <dgm:t>
        <a:bodyPr/>
        <a:lstStyle/>
        <a:p>
          <a:r>
            <a:rPr lang="en-IN" dirty="0"/>
            <a:t>500-2,000 students</a:t>
          </a:r>
        </a:p>
      </dgm:t>
    </dgm:pt>
    <dgm:pt modelId="{AD214923-7315-4B41-868A-3D77BC625833}" type="parTrans" cxnId="{3C77F1B8-FFA1-4E91-97FD-D9E2300EE162}">
      <dgm:prSet/>
      <dgm:spPr/>
      <dgm:t>
        <a:bodyPr/>
        <a:lstStyle/>
        <a:p>
          <a:endParaRPr lang="en-IN"/>
        </a:p>
      </dgm:t>
    </dgm:pt>
    <dgm:pt modelId="{D828A6A0-AE22-427C-B3B9-A619FDACC0CD}" type="sibTrans" cxnId="{3C77F1B8-FFA1-4E91-97FD-D9E2300EE162}">
      <dgm:prSet/>
      <dgm:spPr/>
      <dgm:t>
        <a:bodyPr/>
        <a:lstStyle/>
        <a:p>
          <a:endParaRPr lang="en-IN"/>
        </a:p>
      </dgm:t>
    </dgm:pt>
    <dgm:pt modelId="{A54478E6-C10E-4234-9924-396D940FF75F}">
      <dgm:prSet/>
      <dgm:spPr>
        <a:noFill/>
      </dgm:spPr>
      <dgm:t>
        <a:bodyPr/>
        <a:lstStyle/>
        <a:p>
          <a:r>
            <a:rPr lang="en-US" dirty="0"/>
            <a:t>AICTE-approved, autonomous or affiliated to state universities</a:t>
          </a:r>
          <a:endParaRPr lang="en-IN" dirty="0"/>
        </a:p>
      </dgm:t>
    </dgm:pt>
    <dgm:pt modelId="{4B8895CE-D63A-4159-A5F9-05394DE488C8}" type="parTrans" cxnId="{771EBE28-794A-42A3-866F-5E42718F8283}">
      <dgm:prSet/>
      <dgm:spPr/>
      <dgm:t>
        <a:bodyPr/>
        <a:lstStyle/>
        <a:p>
          <a:endParaRPr lang="en-IN"/>
        </a:p>
      </dgm:t>
    </dgm:pt>
    <dgm:pt modelId="{495847FD-7061-4245-972A-D5B48C41C35A}" type="sibTrans" cxnId="{771EBE28-794A-42A3-866F-5E42718F8283}">
      <dgm:prSet/>
      <dgm:spPr/>
      <dgm:t>
        <a:bodyPr/>
        <a:lstStyle/>
        <a:p>
          <a:endParaRPr lang="en-IN"/>
        </a:p>
      </dgm:t>
    </dgm:pt>
    <dgm:pt modelId="{D48C25F1-CB59-41A9-8AC1-9A662BA6002D}" type="pres">
      <dgm:prSet presAssocID="{D4EA8446-CB01-45A0-82D5-4AB2B2F6AC60}" presName="linear" presStyleCnt="0">
        <dgm:presLayoutVars>
          <dgm:dir/>
          <dgm:animLvl val="lvl"/>
          <dgm:resizeHandles val="exact"/>
        </dgm:presLayoutVars>
      </dgm:prSet>
      <dgm:spPr/>
    </dgm:pt>
    <dgm:pt modelId="{3360853F-426B-4AE7-B6C9-A4A1715FA2BA}" type="pres">
      <dgm:prSet presAssocID="{636A8F92-482E-4AC1-AC99-4792D8CF97A3}" presName="parentLin" presStyleCnt="0"/>
      <dgm:spPr/>
    </dgm:pt>
    <dgm:pt modelId="{ED84C1B0-8F00-4E97-A3AE-EDD00CE0D600}" type="pres">
      <dgm:prSet presAssocID="{636A8F92-482E-4AC1-AC99-4792D8CF97A3}" presName="parentLeftMargin" presStyleLbl="node1" presStyleIdx="0" presStyleCnt="5"/>
      <dgm:spPr/>
    </dgm:pt>
    <dgm:pt modelId="{89DD31DD-2093-43D6-B51E-D72CA1A5D4D7}" type="pres">
      <dgm:prSet presAssocID="{636A8F92-482E-4AC1-AC99-4792D8CF97A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B05842D-CBC5-4827-A570-414AE52660EA}" type="pres">
      <dgm:prSet presAssocID="{636A8F92-482E-4AC1-AC99-4792D8CF97A3}" presName="negativeSpace" presStyleCnt="0"/>
      <dgm:spPr/>
    </dgm:pt>
    <dgm:pt modelId="{DBB61DEF-FF40-42DC-A3AB-EC1F809C5770}" type="pres">
      <dgm:prSet presAssocID="{636A8F92-482E-4AC1-AC99-4792D8CF97A3}" presName="childText" presStyleLbl="conFgAcc1" presStyleIdx="0" presStyleCnt="5">
        <dgm:presLayoutVars>
          <dgm:bulletEnabled val="1"/>
        </dgm:presLayoutVars>
      </dgm:prSet>
      <dgm:spPr/>
    </dgm:pt>
    <dgm:pt modelId="{66E4E309-3555-4027-8C36-1F586007D390}" type="pres">
      <dgm:prSet presAssocID="{C9D99FE5-80EC-4113-A9B7-DE77AF8BBCC7}" presName="spaceBetweenRectangles" presStyleCnt="0"/>
      <dgm:spPr/>
    </dgm:pt>
    <dgm:pt modelId="{CC059094-BFD7-45D0-9FC8-867BDF493E03}" type="pres">
      <dgm:prSet presAssocID="{33860E71-114D-480F-A10C-D150CF506864}" presName="parentLin" presStyleCnt="0"/>
      <dgm:spPr/>
    </dgm:pt>
    <dgm:pt modelId="{697E67D1-CD27-4157-A2A1-4C92CA359C92}" type="pres">
      <dgm:prSet presAssocID="{33860E71-114D-480F-A10C-D150CF506864}" presName="parentLeftMargin" presStyleLbl="node1" presStyleIdx="0" presStyleCnt="5"/>
      <dgm:spPr/>
    </dgm:pt>
    <dgm:pt modelId="{D56911EC-6870-4E03-9AA3-CA3B2A8ADD01}" type="pres">
      <dgm:prSet presAssocID="{33860E71-114D-480F-A10C-D150CF506864}" presName="parentText" presStyleLbl="node1" presStyleIdx="1" presStyleCnt="5">
        <dgm:presLayoutVars>
          <dgm:chMax val="0"/>
          <dgm:bulletEnabled val="1"/>
        </dgm:presLayoutVars>
      </dgm:prSet>
      <dgm:spPr>
        <a:xfrm>
          <a:off x="390950" y="1032353"/>
          <a:ext cx="5473308" cy="265680"/>
        </a:xfrm>
        <a:prstGeom prst="roundRect">
          <a:avLst/>
        </a:prstGeom>
      </dgm:spPr>
    </dgm:pt>
    <dgm:pt modelId="{68B1A671-A8EB-46A3-B1A9-E3E6DF6B6A89}" type="pres">
      <dgm:prSet presAssocID="{33860E71-114D-480F-A10C-D150CF506864}" presName="negativeSpace" presStyleCnt="0"/>
      <dgm:spPr/>
    </dgm:pt>
    <dgm:pt modelId="{A9D372A4-1C26-42E9-B0B2-02DCC90E51DB}" type="pres">
      <dgm:prSet presAssocID="{33860E71-114D-480F-A10C-D150CF506864}" presName="childText" presStyleLbl="conFgAcc1" presStyleIdx="1" presStyleCnt="5">
        <dgm:presLayoutVars>
          <dgm:bulletEnabled val="1"/>
        </dgm:presLayoutVars>
      </dgm:prSet>
      <dgm:spPr/>
    </dgm:pt>
    <dgm:pt modelId="{FE037583-B7DA-40C7-89B4-740DAA3F43A5}" type="pres">
      <dgm:prSet presAssocID="{335733A0-D7ED-4235-8F3B-38379EEBB81F}" presName="spaceBetweenRectangles" presStyleCnt="0"/>
      <dgm:spPr/>
    </dgm:pt>
    <dgm:pt modelId="{5BCA6025-BA1D-4F31-A51D-170473EE787C}" type="pres">
      <dgm:prSet presAssocID="{8F7477E8-43E8-4C28-B029-4460294DCD30}" presName="parentLin" presStyleCnt="0"/>
      <dgm:spPr/>
    </dgm:pt>
    <dgm:pt modelId="{45C86BC5-7C4C-4A2E-9641-C4F9956E33EC}" type="pres">
      <dgm:prSet presAssocID="{8F7477E8-43E8-4C28-B029-4460294DCD30}" presName="parentLeftMargin" presStyleLbl="node1" presStyleIdx="1" presStyleCnt="5"/>
      <dgm:spPr/>
    </dgm:pt>
    <dgm:pt modelId="{ADACE7FB-B25F-43DE-A189-18C44573B851}" type="pres">
      <dgm:prSet presAssocID="{8F7477E8-43E8-4C28-B029-4460294DCD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5E0AE08-5994-4344-A605-7A9DF03ADA7E}" type="pres">
      <dgm:prSet presAssocID="{8F7477E8-43E8-4C28-B029-4460294DCD30}" presName="negativeSpace" presStyleCnt="0"/>
      <dgm:spPr/>
    </dgm:pt>
    <dgm:pt modelId="{612C5135-BC9C-41DA-89C6-9C2835239A14}" type="pres">
      <dgm:prSet presAssocID="{8F7477E8-43E8-4C28-B029-4460294DCD30}" presName="childText" presStyleLbl="conFgAcc1" presStyleIdx="2" presStyleCnt="5">
        <dgm:presLayoutVars>
          <dgm:bulletEnabled val="1"/>
        </dgm:presLayoutVars>
      </dgm:prSet>
      <dgm:spPr/>
    </dgm:pt>
    <dgm:pt modelId="{46C7DE5F-9F8F-42BD-B824-2C1B962B9414}" type="pres">
      <dgm:prSet presAssocID="{5F635134-E29F-4FB9-B86A-58915DABD1D9}" presName="spaceBetweenRectangles" presStyleCnt="0"/>
      <dgm:spPr/>
    </dgm:pt>
    <dgm:pt modelId="{0798BC5A-FA3E-49E9-8BC1-A0418873B243}" type="pres">
      <dgm:prSet presAssocID="{C34B80F2-77CE-4C7C-8336-A47328404B67}" presName="parentLin" presStyleCnt="0"/>
      <dgm:spPr/>
    </dgm:pt>
    <dgm:pt modelId="{6D13D34C-DB18-4F72-94CC-358385884716}" type="pres">
      <dgm:prSet presAssocID="{C34B80F2-77CE-4C7C-8336-A47328404B67}" presName="parentLeftMargin" presStyleLbl="node1" presStyleIdx="2" presStyleCnt="5"/>
      <dgm:spPr/>
    </dgm:pt>
    <dgm:pt modelId="{C3776772-53CE-4CF1-AFB5-D0798E004DD3}" type="pres">
      <dgm:prSet presAssocID="{C34B80F2-77CE-4C7C-8336-A47328404B6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84CC63F-22B1-4FF5-9FA9-2BC2E1F585FC}" type="pres">
      <dgm:prSet presAssocID="{C34B80F2-77CE-4C7C-8336-A47328404B67}" presName="negativeSpace" presStyleCnt="0"/>
      <dgm:spPr/>
    </dgm:pt>
    <dgm:pt modelId="{BA0C3699-45B4-4036-8823-BAC9E629C914}" type="pres">
      <dgm:prSet presAssocID="{C34B80F2-77CE-4C7C-8336-A47328404B67}" presName="childText" presStyleLbl="conFgAcc1" presStyleIdx="3" presStyleCnt="5">
        <dgm:presLayoutVars>
          <dgm:bulletEnabled val="1"/>
        </dgm:presLayoutVars>
      </dgm:prSet>
      <dgm:spPr/>
    </dgm:pt>
    <dgm:pt modelId="{0B5C7AFF-5B9A-4850-AE5F-8083057DABA4}" type="pres">
      <dgm:prSet presAssocID="{75D29454-4F5B-441B-B72A-BD549D1F49DD}" presName="spaceBetweenRectangles" presStyleCnt="0"/>
      <dgm:spPr/>
    </dgm:pt>
    <dgm:pt modelId="{257A5B43-EC62-4656-97BF-C02B8BE57372}" type="pres">
      <dgm:prSet presAssocID="{C657F81F-E3F9-4687-A6DE-F25E9557E955}" presName="parentLin" presStyleCnt="0"/>
      <dgm:spPr/>
    </dgm:pt>
    <dgm:pt modelId="{091007F8-0089-4E15-A9E3-E9802472E6BC}" type="pres">
      <dgm:prSet presAssocID="{C657F81F-E3F9-4687-A6DE-F25E9557E955}" presName="parentLeftMargin" presStyleLbl="node1" presStyleIdx="3" presStyleCnt="5"/>
      <dgm:spPr/>
    </dgm:pt>
    <dgm:pt modelId="{2AE5861E-43C2-424C-8E08-844D471B2D45}" type="pres">
      <dgm:prSet presAssocID="{C657F81F-E3F9-4687-A6DE-F25E9557E95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FE40EBD-ED59-492A-87D1-EFC6E8789CF2}" type="pres">
      <dgm:prSet presAssocID="{C657F81F-E3F9-4687-A6DE-F25E9557E955}" presName="negativeSpace" presStyleCnt="0"/>
      <dgm:spPr/>
    </dgm:pt>
    <dgm:pt modelId="{D61EB7C9-BD5D-4FD2-B82D-0D57817578A0}" type="pres">
      <dgm:prSet presAssocID="{C657F81F-E3F9-4687-A6DE-F25E9557E95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8A31102-BB85-4F6A-9D2C-849842D64141}" srcId="{8F7477E8-43E8-4C28-B029-4460294DCD30}" destId="{89851500-4AD6-48B7-A3E6-92E2EC897F08}" srcOrd="0" destOrd="0" parTransId="{BCAF6C35-D5D0-438A-8F43-EFB26DB063EF}" sibTransId="{D6A2C3F2-1603-4792-A2F9-B2EDC902C961}"/>
    <dgm:cxn modelId="{5A3B9909-40B6-4EFE-8CA8-732974447955}" type="presOf" srcId="{5381ED73-0496-41CA-B84A-48B5F4069BA3}" destId="{BA0C3699-45B4-4036-8823-BAC9E629C914}" srcOrd="0" destOrd="0" presId="urn:microsoft.com/office/officeart/2005/8/layout/list1"/>
    <dgm:cxn modelId="{C2EE6119-057A-4CEA-B704-7643E206D2DE}" type="presOf" srcId="{D4EA8446-CB01-45A0-82D5-4AB2B2F6AC60}" destId="{D48C25F1-CB59-41A9-8AC1-9A662BA6002D}" srcOrd="0" destOrd="0" presId="urn:microsoft.com/office/officeart/2005/8/layout/list1"/>
    <dgm:cxn modelId="{F0CA3D1F-9B3C-4BAC-B626-90364E5A2240}" type="presOf" srcId="{9CF1D26B-7E35-48C0-B567-A4708F15FC7C}" destId="{DBB61DEF-FF40-42DC-A3AB-EC1F809C5770}" srcOrd="0" destOrd="1" presId="urn:microsoft.com/office/officeart/2005/8/layout/list1"/>
    <dgm:cxn modelId="{858C2127-3030-4745-A9A4-084F775D5ED5}" srcId="{33860E71-114D-480F-A10C-D150CF506864}" destId="{86AF42F4-6E62-4C19-A54F-ACC5EE5F5483}" srcOrd="1" destOrd="0" parTransId="{362B4864-8631-4F89-831B-69CBFC950FAC}" sibTransId="{DE63D76D-37E2-45F9-8767-2159633D1BF9}"/>
    <dgm:cxn modelId="{38ADAB27-665F-41DC-938F-CC82A2F6F875}" srcId="{D4EA8446-CB01-45A0-82D5-4AB2B2F6AC60}" destId="{33860E71-114D-480F-A10C-D150CF506864}" srcOrd="1" destOrd="0" parTransId="{F7DB40A1-F628-456F-837D-46153A829360}" sibTransId="{335733A0-D7ED-4235-8F3B-38379EEBB81F}"/>
    <dgm:cxn modelId="{771EBE28-794A-42A3-866F-5E42718F8283}" srcId="{636A8F92-482E-4AC1-AC99-4792D8CF97A3}" destId="{A54478E6-C10E-4234-9924-396D940FF75F}" srcOrd="3" destOrd="0" parTransId="{4B8895CE-D63A-4159-A5F9-05394DE488C8}" sibTransId="{495847FD-7061-4245-972A-D5B48C41C35A}"/>
    <dgm:cxn modelId="{8FC34439-04AE-4BBB-9ABA-7467C93E44F5}" type="presOf" srcId="{A54478E6-C10E-4234-9924-396D940FF75F}" destId="{DBB61DEF-FF40-42DC-A3AB-EC1F809C5770}" srcOrd="0" destOrd="3" presId="urn:microsoft.com/office/officeart/2005/8/layout/list1"/>
    <dgm:cxn modelId="{9D86FA39-724A-4889-AD65-40E4206F8370}" srcId="{C657F81F-E3F9-4687-A6DE-F25E9557E955}" destId="{ADE76BB3-7CDE-40D3-A2C7-DC6572C9EECF}" srcOrd="2" destOrd="0" parTransId="{250D8560-596F-48C1-A9DF-273D70599639}" sibTransId="{E186F2A1-E11B-418D-B960-CC850512D633}"/>
    <dgm:cxn modelId="{596D8A3A-B17D-4317-B8AB-A142B179ADF5}" type="presOf" srcId="{4F2C81F3-9286-4162-8E1D-6CDDFCF55A47}" destId="{D61EB7C9-BD5D-4FD2-B82D-0D57817578A0}" srcOrd="0" destOrd="3" presId="urn:microsoft.com/office/officeart/2005/8/layout/list1"/>
    <dgm:cxn modelId="{51C8503C-26C3-4129-853A-882046D11E57}" srcId="{D4EA8446-CB01-45A0-82D5-4AB2B2F6AC60}" destId="{C657F81F-E3F9-4687-A6DE-F25E9557E955}" srcOrd="4" destOrd="0" parTransId="{C48CFA80-5D07-48D7-9791-6A0044A3A6EC}" sibTransId="{A09F7BD9-74AB-4038-8C2F-7C2C07B5E832}"/>
    <dgm:cxn modelId="{2F7C6D5B-4A7D-4DF4-AF3B-8309ACE7A7C1}" srcId="{33860E71-114D-480F-A10C-D150CF506864}" destId="{4DF87933-5BCB-4C93-A59F-B191A2475D8F}" srcOrd="2" destOrd="0" parTransId="{B153FA15-9FB4-4CCF-92E3-15CF764999C6}" sibTransId="{08C533ED-4528-4414-ACAD-B3A1ABF77612}"/>
    <dgm:cxn modelId="{948A6261-0824-4702-87AF-11E351EFC4CD}" srcId="{33860E71-114D-480F-A10C-D150CF506864}" destId="{87F42344-EDD0-4ADE-8FF6-4819E65B01AC}" srcOrd="3" destOrd="0" parTransId="{9308DCFB-5590-44B0-BB7F-E9F62B212733}" sibTransId="{1A4145F6-F59D-4EDB-8633-D4332838E192}"/>
    <dgm:cxn modelId="{D739D761-C5CB-4272-871D-FA5D8E74C692}" type="presOf" srcId="{ADE76BB3-7CDE-40D3-A2C7-DC6572C9EECF}" destId="{D61EB7C9-BD5D-4FD2-B82D-0D57817578A0}" srcOrd="0" destOrd="2" presId="urn:microsoft.com/office/officeart/2005/8/layout/list1"/>
    <dgm:cxn modelId="{A6622C44-0C1D-43FE-A6BF-45A2C953E7EE}" type="presOf" srcId="{C657F81F-E3F9-4687-A6DE-F25E9557E955}" destId="{091007F8-0089-4E15-A9E3-E9802472E6BC}" srcOrd="0" destOrd="0" presId="urn:microsoft.com/office/officeart/2005/8/layout/list1"/>
    <dgm:cxn modelId="{BAC60966-C587-4D06-9BF9-674EF6EA89DE}" type="presOf" srcId="{33860E71-114D-480F-A10C-D150CF506864}" destId="{697E67D1-CD27-4157-A2A1-4C92CA359C92}" srcOrd="0" destOrd="0" presId="urn:microsoft.com/office/officeart/2005/8/layout/list1"/>
    <dgm:cxn modelId="{601B6D70-6C81-4CDC-8D06-597DDD944A5B}" type="presOf" srcId="{636A8F92-482E-4AC1-AC99-4792D8CF97A3}" destId="{89DD31DD-2093-43D6-B51E-D72CA1A5D4D7}" srcOrd="1" destOrd="0" presId="urn:microsoft.com/office/officeart/2005/8/layout/list1"/>
    <dgm:cxn modelId="{D2EB2971-69F3-41A9-9EC7-D2A55A8686D7}" srcId="{8F7477E8-43E8-4C28-B029-4460294DCD30}" destId="{4BEB1301-453C-4216-B8CB-70E4A21D25A1}" srcOrd="2" destOrd="0" parTransId="{E2371082-952E-4221-8720-4757567DCBC5}" sibTransId="{3A2C51FB-378A-4378-B768-FB87673F81B5}"/>
    <dgm:cxn modelId="{4348EB72-F523-4021-AAAF-F08804A987CF}" srcId="{C657F81F-E3F9-4687-A6DE-F25E9557E955}" destId="{18478C78-F9E1-4A59-BCD8-212471CE62DE}" srcOrd="0" destOrd="0" parTransId="{3861D55D-9BC8-40F5-B897-09132A6FE45C}" sibTransId="{FF52229A-96E9-4316-A435-199C143079E2}"/>
    <dgm:cxn modelId="{1B483977-4C63-4799-BDF6-0E4C5A42C989}" type="presOf" srcId="{98DE2646-512E-4A10-9D9C-5C5AB2AB4710}" destId="{BA0C3699-45B4-4036-8823-BAC9E629C914}" srcOrd="0" destOrd="1" presId="urn:microsoft.com/office/officeart/2005/8/layout/list1"/>
    <dgm:cxn modelId="{23F2C358-ACDB-44AE-9BE5-199A6C796270}" type="presOf" srcId="{89851500-4AD6-48B7-A3E6-92E2EC897F08}" destId="{612C5135-BC9C-41DA-89C6-9C2835239A14}" srcOrd="0" destOrd="0" presId="urn:microsoft.com/office/officeart/2005/8/layout/list1"/>
    <dgm:cxn modelId="{CB825859-1459-4D4F-8E8A-809E50BEDADB}" type="presOf" srcId="{636A8F92-482E-4AC1-AC99-4792D8CF97A3}" destId="{ED84C1B0-8F00-4E97-A3AE-EDD00CE0D600}" srcOrd="0" destOrd="0" presId="urn:microsoft.com/office/officeart/2005/8/layout/list1"/>
    <dgm:cxn modelId="{732A805A-4EF1-40CB-A700-4966E3885636}" type="presOf" srcId="{A113F859-E59F-4B5B-A8F6-FAA0BD25C6E9}" destId="{DBB61DEF-FF40-42DC-A3AB-EC1F809C5770}" srcOrd="0" destOrd="2" presId="urn:microsoft.com/office/officeart/2005/8/layout/list1"/>
    <dgm:cxn modelId="{3A2E857F-53DB-4110-BF0E-A747FEAEE9A7}" type="presOf" srcId="{4BEB1301-453C-4216-B8CB-70E4A21D25A1}" destId="{612C5135-BC9C-41DA-89C6-9C2835239A14}" srcOrd="0" destOrd="2" presId="urn:microsoft.com/office/officeart/2005/8/layout/list1"/>
    <dgm:cxn modelId="{A4FF4582-409B-4645-8783-7F42F3DE7A9C}" type="presOf" srcId="{86AF42F4-6E62-4C19-A54F-ACC5EE5F5483}" destId="{A9D372A4-1C26-42E9-B0B2-02DCC90E51DB}" srcOrd="0" destOrd="1" presId="urn:microsoft.com/office/officeart/2005/8/layout/list1"/>
    <dgm:cxn modelId="{5913138A-3C8B-4938-BC6E-F246BC92C481}" type="presOf" srcId="{87F42344-EDD0-4ADE-8FF6-4819E65B01AC}" destId="{A9D372A4-1C26-42E9-B0B2-02DCC90E51DB}" srcOrd="0" destOrd="3" presId="urn:microsoft.com/office/officeart/2005/8/layout/list1"/>
    <dgm:cxn modelId="{BCC81C8E-DC18-4F0F-AAD8-6640C96A213F}" type="presOf" srcId="{4DF87933-5BCB-4C93-A59F-B191A2475D8F}" destId="{A9D372A4-1C26-42E9-B0B2-02DCC90E51DB}" srcOrd="0" destOrd="2" presId="urn:microsoft.com/office/officeart/2005/8/layout/list1"/>
    <dgm:cxn modelId="{380AB290-C3FD-45CC-83F6-8D33A2DE0E5D}" type="presOf" srcId="{C54B8814-D0DC-497E-BE9B-91389843FA23}" destId="{D61EB7C9-BD5D-4FD2-B82D-0D57817578A0}" srcOrd="0" destOrd="1" presId="urn:microsoft.com/office/officeart/2005/8/layout/list1"/>
    <dgm:cxn modelId="{6883B491-B315-4624-B6CD-7EF0BAAA7E6F}" type="presOf" srcId="{4E7E7DEB-82F1-436C-8D63-292000508E45}" destId="{BA0C3699-45B4-4036-8823-BAC9E629C914}" srcOrd="0" destOrd="2" presId="urn:microsoft.com/office/officeart/2005/8/layout/list1"/>
    <dgm:cxn modelId="{DB488E94-623F-44CA-94B9-77EA1B402F5A}" srcId="{636A8F92-482E-4AC1-AC99-4792D8CF97A3}" destId="{9CF1D26B-7E35-48C0-B567-A4708F15FC7C}" srcOrd="1" destOrd="0" parTransId="{02509053-9889-4653-9705-496D6381068C}" sibTransId="{2D5D2AA1-3067-449F-A2AF-96046D4ABEF7}"/>
    <dgm:cxn modelId="{D2751C97-15BC-46EA-906B-4BF742F42202}" srcId="{C657F81F-E3F9-4687-A6DE-F25E9557E955}" destId="{C54B8814-D0DC-497E-BE9B-91389843FA23}" srcOrd="1" destOrd="0" parTransId="{B46E39F6-882C-412B-93D3-B2A05A20352A}" sibTransId="{CCF9A8A5-B389-494C-8F68-28CBAB41F9F3}"/>
    <dgm:cxn modelId="{612678A7-72A4-43A6-8903-A33A3E8A9DFB}" srcId="{D4EA8446-CB01-45A0-82D5-4AB2B2F6AC60}" destId="{C34B80F2-77CE-4C7C-8336-A47328404B67}" srcOrd="3" destOrd="0" parTransId="{97CFEBBF-BB5F-42A8-AF36-5CC4D0D3970C}" sibTransId="{75D29454-4F5B-441B-B72A-BD549D1F49DD}"/>
    <dgm:cxn modelId="{11D8E6AC-CCE0-425F-AC15-4A59A4945A73}" type="presOf" srcId="{18478C78-F9E1-4A59-BCD8-212471CE62DE}" destId="{D61EB7C9-BD5D-4FD2-B82D-0D57817578A0}" srcOrd="0" destOrd="0" presId="urn:microsoft.com/office/officeart/2005/8/layout/list1"/>
    <dgm:cxn modelId="{50C611AE-6ADE-4ABE-B684-FB9BACB51E7B}" srcId="{636A8F92-482E-4AC1-AC99-4792D8CF97A3}" destId="{4429E82E-D8F9-4958-B7F0-E5589A293E7C}" srcOrd="0" destOrd="0" parTransId="{78AF28A8-A6C1-46EE-BDE6-0806B6D2A460}" sibTransId="{710E06F5-FCFF-4D6D-B294-3733F8DD0D43}"/>
    <dgm:cxn modelId="{08B883AE-883A-43F5-8D4C-CE52850688EA}" type="presOf" srcId="{4429E82E-D8F9-4958-B7F0-E5589A293E7C}" destId="{DBB61DEF-FF40-42DC-A3AB-EC1F809C5770}" srcOrd="0" destOrd="0" presId="urn:microsoft.com/office/officeart/2005/8/layout/list1"/>
    <dgm:cxn modelId="{05EAF2AE-5E2B-43EE-B3F4-54A5786E3D7F}" srcId="{33860E71-114D-480F-A10C-D150CF506864}" destId="{5702DB48-5B8A-49E9-B3F5-AA34899B21A7}" srcOrd="0" destOrd="0" parTransId="{E433EF3A-9D3C-4EBD-B6E7-C8EB0943C478}" sibTransId="{90995551-E573-425A-A90B-46BA64540B5C}"/>
    <dgm:cxn modelId="{1CF1BEB2-1E84-4A88-BEDB-F82D5C28AE1C}" srcId="{C34B80F2-77CE-4C7C-8336-A47328404B67}" destId="{5381ED73-0496-41CA-B84A-48B5F4069BA3}" srcOrd="0" destOrd="0" parTransId="{7F0F7BF6-27DD-4A53-9EAF-1E5E8AF8E8C2}" sibTransId="{2A874E2E-117F-4344-8B07-130D80358009}"/>
    <dgm:cxn modelId="{556A5FB3-E6F3-4602-95DD-F3D236B0D4D8}" type="presOf" srcId="{C34B80F2-77CE-4C7C-8336-A47328404B67}" destId="{C3776772-53CE-4CF1-AFB5-D0798E004DD3}" srcOrd="1" destOrd="0" presId="urn:microsoft.com/office/officeart/2005/8/layout/list1"/>
    <dgm:cxn modelId="{440390B4-8B3B-4BED-B809-2FD3DCCE90AB}" type="presOf" srcId="{5702DB48-5B8A-49E9-B3F5-AA34899B21A7}" destId="{A9D372A4-1C26-42E9-B0B2-02DCC90E51DB}" srcOrd="0" destOrd="0" presId="urn:microsoft.com/office/officeart/2005/8/layout/list1"/>
    <dgm:cxn modelId="{556D44B5-8254-4A70-8404-F3D2197C3E4B}" srcId="{C34B80F2-77CE-4C7C-8336-A47328404B67}" destId="{98DE2646-512E-4A10-9D9C-5C5AB2AB4710}" srcOrd="1" destOrd="0" parTransId="{E0F691DD-1BEA-4807-8245-A0856D742241}" sibTransId="{61AD9D0D-FC23-4541-B189-80A88C09DD08}"/>
    <dgm:cxn modelId="{474623B7-449E-4386-A53B-223B96BB7987}" type="presOf" srcId="{33860E71-114D-480F-A10C-D150CF506864}" destId="{D56911EC-6870-4E03-9AA3-CA3B2A8ADD01}" srcOrd="1" destOrd="0" presId="urn:microsoft.com/office/officeart/2005/8/layout/list1"/>
    <dgm:cxn modelId="{3C77F1B8-FFA1-4E91-97FD-D9E2300EE162}" srcId="{636A8F92-482E-4AC1-AC99-4792D8CF97A3}" destId="{A113F859-E59F-4B5B-A8F6-FAA0BD25C6E9}" srcOrd="2" destOrd="0" parTransId="{AD214923-7315-4B41-868A-3D77BC625833}" sibTransId="{D828A6A0-AE22-427C-B3B9-A619FDACC0CD}"/>
    <dgm:cxn modelId="{F00341BA-7013-4C18-BB74-6073456F6EEA}" srcId="{C657F81F-E3F9-4687-A6DE-F25E9557E955}" destId="{4F2C81F3-9286-4162-8E1D-6CDDFCF55A47}" srcOrd="3" destOrd="0" parTransId="{96BF10BC-312F-4E88-820D-126986F0F7AB}" sibTransId="{1453082B-CB43-4CAB-A00E-7D3222F9E203}"/>
    <dgm:cxn modelId="{C2E159BA-62EA-487C-AC55-36CCE96AB18B}" srcId="{D4EA8446-CB01-45A0-82D5-4AB2B2F6AC60}" destId="{636A8F92-482E-4AC1-AC99-4792D8CF97A3}" srcOrd="0" destOrd="0" parTransId="{8D36C201-34D2-42BD-A9E9-ED3DCABF1B9B}" sibTransId="{C9D99FE5-80EC-4113-A9B7-DE77AF8BBCC7}"/>
    <dgm:cxn modelId="{227626BF-C5F4-49E0-87E1-D79A0D67683E}" type="presOf" srcId="{8F7477E8-43E8-4C28-B029-4460294DCD30}" destId="{ADACE7FB-B25F-43DE-A189-18C44573B851}" srcOrd="1" destOrd="0" presId="urn:microsoft.com/office/officeart/2005/8/layout/list1"/>
    <dgm:cxn modelId="{C5E992C9-F108-438C-92E2-798C690946B1}" type="presOf" srcId="{C657F81F-E3F9-4687-A6DE-F25E9557E955}" destId="{2AE5861E-43C2-424C-8E08-844D471B2D45}" srcOrd="1" destOrd="0" presId="urn:microsoft.com/office/officeart/2005/8/layout/list1"/>
    <dgm:cxn modelId="{20B418CF-A18E-49FC-B578-FF2DD8736726}" type="presOf" srcId="{057A0163-3AE8-41B4-8683-CAB42FC159C7}" destId="{612C5135-BC9C-41DA-89C6-9C2835239A14}" srcOrd="0" destOrd="1" presId="urn:microsoft.com/office/officeart/2005/8/layout/list1"/>
    <dgm:cxn modelId="{0C48F2E0-1615-4AEC-A865-5525CC086524}" srcId="{8F7477E8-43E8-4C28-B029-4460294DCD30}" destId="{057A0163-3AE8-41B4-8683-CAB42FC159C7}" srcOrd="1" destOrd="0" parTransId="{479E6E07-041E-41D2-99A5-25861F29999C}" sibTransId="{601B9FF7-114C-4A2C-825E-A8D5ECD852A3}"/>
    <dgm:cxn modelId="{CE72AEE3-2835-4728-808A-380915F2A5B0}" type="presOf" srcId="{8F7477E8-43E8-4C28-B029-4460294DCD30}" destId="{45C86BC5-7C4C-4A2E-9641-C4F9956E33EC}" srcOrd="0" destOrd="0" presId="urn:microsoft.com/office/officeart/2005/8/layout/list1"/>
    <dgm:cxn modelId="{95795BE5-7846-4700-B953-3CC6044C87B2}" type="presOf" srcId="{C34B80F2-77CE-4C7C-8336-A47328404B67}" destId="{6D13D34C-DB18-4F72-94CC-358385884716}" srcOrd="0" destOrd="0" presId="urn:microsoft.com/office/officeart/2005/8/layout/list1"/>
    <dgm:cxn modelId="{3CFF8FE7-31B7-44B2-B9A4-366E186903C6}" srcId="{D4EA8446-CB01-45A0-82D5-4AB2B2F6AC60}" destId="{8F7477E8-43E8-4C28-B029-4460294DCD30}" srcOrd="2" destOrd="0" parTransId="{3B848BD9-925D-4BAF-944A-B6F70C0B535C}" sibTransId="{5F635134-E29F-4FB9-B86A-58915DABD1D9}"/>
    <dgm:cxn modelId="{2B7A6AF7-CC67-4123-8591-3C5AE526EE0B}" srcId="{C34B80F2-77CE-4C7C-8336-A47328404B67}" destId="{4E7E7DEB-82F1-436C-8D63-292000508E45}" srcOrd="2" destOrd="0" parTransId="{961BA0D6-8B40-49F8-B7C1-B3D66F10E024}" sibTransId="{D7C0D4F4-513C-4A54-B964-5D3F4E8488EE}"/>
    <dgm:cxn modelId="{BA8E53A0-EBDE-4A5C-BBD5-7359F0A5A8B5}" type="presParOf" srcId="{D48C25F1-CB59-41A9-8AC1-9A662BA6002D}" destId="{3360853F-426B-4AE7-B6C9-A4A1715FA2BA}" srcOrd="0" destOrd="0" presId="urn:microsoft.com/office/officeart/2005/8/layout/list1"/>
    <dgm:cxn modelId="{CEFFD4FE-0041-44CA-9006-56F159078AED}" type="presParOf" srcId="{3360853F-426B-4AE7-B6C9-A4A1715FA2BA}" destId="{ED84C1B0-8F00-4E97-A3AE-EDD00CE0D600}" srcOrd="0" destOrd="0" presId="urn:microsoft.com/office/officeart/2005/8/layout/list1"/>
    <dgm:cxn modelId="{5BE4A1C4-2863-4196-9205-CA1F1A6D333A}" type="presParOf" srcId="{3360853F-426B-4AE7-B6C9-A4A1715FA2BA}" destId="{89DD31DD-2093-43D6-B51E-D72CA1A5D4D7}" srcOrd="1" destOrd="0" presId="urn:microsoft.com/office/officeart/2005/8/layout/list1"/>
    <dgm:cxn modelId="{952837CE-D9EC-44B7-9F18-713B089E6A2C}" type="presParOf" srcId="{D48C25F1-CB59-41A9-8AC1-9A662BA6002D}" destId="{7B05842D-CBC5-4827-A570-414AE52660EA}" srcOrd="1" destOrd="0" presId="urn:microsoft.com/office/officeart/2005/8/layout/list1"/>
    <dgm:cxn modelId="{6C1D8082-A2B2-4671-81C1-CBC940D2589A}" type="presParOf" srcId="{D48C25F1-CB59-41A9-8AC1-9A662BA6002D}" destId="{DBB61DEF-FF40-42DC-A3AB-EC1F809C5770}" srcOrd="2" destOrd="0" presId="urn:microsoft.com/office/officeart/2005/8/layout/list1"/>
    <dgm:cxn modelId="{E9C9B73B-906D-48E5-B447-3B580C013CFF}" type="presParOf" srcId="{D48C25F1-CB59-41A9-8AC1-9A662BA6002D}" destId="{66E4E309-3555-4027-8C36-1F586007D390}" srcOrd="3" destOrd="0" presId="urn:microsoft.com/office/officeart/2005/8/layout/list1"/>
    <dgm:cxn modelId="{D5C2AD37-A19C-47E2-9C67-3F50359619F7}" type="presParOf" srcId="{D48C25F1-CB59-41A9-8AC1-9A662BA6002D}" destId="{CC059094-BFD7-45D0-9FC8-867BDF493E03}" srcOrd="4" destOrd="0" presId="urn:microsoft.com/office/officeart/2005/8/layout/list1"/>
    <dgm:cxn modelId="{1897952F-425E-4B15-90C3-DCE9D4930BE2}" type="presParOf" srcId="{CC059094-BFD7-45D0-9FC8-867BDF493E03}" destId="{697E67D1-CD27-4157-A2A1-4C92CA359C92}" srcOrd="0" destOrd="0" presId="urn:microsoft.com/office/officeart/2005/8/layout/list1"/>
    <dgm:cxn modelId="{815BC7FD-FCB9-4BBA-B692-50FB35890677}" type="presParOf" srcId="{CC059094-BFD7-45D0-9FC8-867BDF493E03}" destId="{D56911EC-6870-4E03-9AA3-CA3B2A8ADD01}" srcOrd="1" destOrd="0" presId="urn:microsoft.com/office/officeart/2005/8/layout/list1"/>
    <dgm:cxn modelId="{57A9F484-E949-44C6-A06F-3AEEB23B43C5}" type="presParOf" srcId="{D48C25F1-CB59-41A9-8AC1-9A662BA6002D}" destId="{68B1A671-A8EB-46A3-B1A9-E3E6DF6B6A89}" srcOrd="5" destOrd="0" presId="urn:microsoft.com/office/officeart/2005/8/layout/list1"/>
    <dgm:cxn modelId="{D535D7F4-5D25-4770-B7DD-9B0A7B955DC9}" type="presParOf" srcId="{D48C25F1-CB59-41A9-8AC1-9A662BA6002D}" destId="{A9D372A4-1C26-42E9-B0B2-02DCC90E51DB}" srcOrd="6" destOrd="0" presId="urn:microsoft.com/office/officeart/2005/8/layout/list1"/>
    <dgm:cxn modelId="{8CA9923E-EF4A-4355-92B3-51E4C611EC99}" type="presParOf" srcId="{D48C25F1-CB59-41A9-8AC1-9A662BA6002D}" destId="{FE037583-B7DA-40C7-89B4-740DAA3F43A5}" srcOrd="7" destOrd="0" presId="urn:microsoft.com/office/officeart/2005/8/layout/list1"/>
    <dgm:cxn modelId="{87211FAA-B676-4907-8928-1CB27E8836F3}" type="presParOf" srcId="{D48C25F1-CB59-41A9-8AC1-9A662BA6002D}" destId="{5BCA6025-BA1D-4F31-A51D-170473EE787C}" srcOrd="8" destOrd="0" presId="urn:microsoft.com/office/officeart/2005/8/layout/list1"/>
    <dgm:cxn modelId="{26A35F7E-3B25-412B-BC0B-A74462B17E75}" type="presParOf" srcId="{5BCA6025-BA1D-4F31-A51D-170473EE787C}" destId="{45C86BC5-7C4C-4A2E-9641-C4F9956E33EC}" srcOrd="0" destOrd="0" presId="urn:microsoft.com/office/officeart/2005/8/layout/list1"/>
    <dgm:cxn modelId="{4AB6B994-5E86-4C65-9F8E-7CAC7D005A9A}" type="presParOf" srcId="{5BCA6025-BA1D-4F31-A51D-170473EE787C}" destId="{ADACE7FB-B25F-43DE-A189-18C44573B851}" srcOrd="1" destOrd="0" presId="urn:microsoft.com/office/officeart/2005/8/layout/list1"/>
    <dgm:cxn modelId="{87026AC3-BABE-4BDE-BE29-B0AC9A9C53AD}" type="presParOf" srcId="{D48C25F1-CB59-41A9-8AC1-9A662BA6002D}" destId="{65E0AE08-5994-4344-A605-7A9DF03ADA7E}" srcOrd="9" destOrd="0" presId="urn:microsoft.com/office/officeart/2005/8/layout/list1"/>
    <dgm:cxn modelId="{296CF37A-EACB-4A4C-8778-BFBFF360A0B3}" type="presParOf" srcId="{D48C25F1-CB59-41A9-8AC1-9A662BA6002D}" destId="{612C5135-BC9C-41DA-89C6-9C2835239A14}" srcOrd="10" destOrd="0" presId="urn:microsoft.com/office/officeart/2005/8/layout/list1"/>
    <dgm:cxn modelId="{152D8406-A63D-4DCD-BD93-0AFEC3B4E159}" type="presParOf" srcId="{D48C25F1-CB59-41A9-8AC1-9A662BA6002D}" destId="{46C7DE5F-9F8F-42BD-B824-2C1B962B9414}" srcOrd="11" destOrd="0" presId="urn:microsoft.com/office/officeart/2005/8/layout/list1"/>
    <dgm:cxn modelId="{BB7C9FAD-297F-44BE-AE71-47663F0343A9}" type="presParOf" srcId="{D48C25F1-CB59-41A9-8AC1-9A662BA6002D}" destId="{0798BC5A-FA3E-49E9-8BC1-A0418873B243}" srcOrd="12" destOrd="0" presId="urn:microsoft.com/office/officeart/2005/8/layout/list1"/>
    <dgm:cxn modelId="{A7D58D05-5AB8-433B-B22F-A4474FBE4A9E}" type="presParOf" srcId="{0798BC5A-FA3E-49E9-8BC1-A0418873B243}" destId="{6D13D34C-DB18-4F72-94CC-358385884716}" srcOrd="0" destOrd="0" presId="urn:microsoft.com/office/officeart/2005/8/layout/list1"/>
    <dgm:cxn modelId="{9E41C0DB-F17C-4FE1-AA10-33A9629D32F3}" type="presParOf" srcId="{0798BC5A-FA3E-49E9-8BC1-A0418873B243}" destId="{C3776772-53CE-4CF1-AFB5-D0798E004DD3}" srcOrd="1" destOrd="0" presId="urn:microsoft.com/office/officeart/2005/8/layout/list1"/>
    <dgm:cxn modelId="{CCF430BE-88F0-403C-871D-598E63332CC7}" type="presParOf" srcId="{D48C25F1-CB59-41A9-8AC1-9A662BA6002D}" destId="{784CC63F-22B1-4FF5-9FA9-2BC2E1F585FC}" srcOrd="13" destOrd="0" presId="urn:microsoft.com/office/officeart/2005/8/layout/list1"/>
    <dgm:cxn modelId="{6BCDB4D0-D554-434B-BFB5-44DE73E873E0}" type="presParOf" srcId="{D48C25F1-CB59-41A9-8AC1-9A662BA6002D}" destId="{BA0C3699-45B4-4036-8823-BAC9E629C914}" srcOrd="14" destOrd="0" presId="urn:microsoft.com/office/officeart/2005/8/layout/list1"/>
    <dgm:cxn modelId="{6456FE53-4C50-462F-89F8-A9BBFDD6BE92}" type="presParOf" srcId="{D48C25F1-CB59-41A9-8AC1-9A662BA6002D}" destId="{0B5C7AFF-5B9A-4850-AE5F-8083057DABA4}" srcOrd="15" destOrd="0" presId="urn:microsoft.com/office/officeart/2005/8/layout/list1"/>
    <dgm:cxn modelId="{F10A8EA6-29C0-4051-BBB2-E5C95F0B6C3C}" type="presParOf" srcId="{D48C25F1-CB59-41A9-8AC1-9A662BA6002D}" destId="{257A5B43-EC62-4656-97BF-C02B8BE57372}" srcOrd="16" destOrd="0" presId="urn:microsoft.com/office/officeart/2005/8/layout/list1"/>
    <dgm:cxn modelId="{36997AF6-DB42-4516-B9B5-F5D2D7216EDF}" type="presParOf" srcId="{257A5B43-EC62-4656-97BF-C02B8BE57372}" destId="{091007F8-0089-4E15-A9E3-E9802472E6BC}" srcOrd="0" destOrd="0" presId="urn:microsoft.com/office/officeart/2005/8/layout/list1"/>
    <dgm:cxn modelId="{B74CF130-655C-46A4-8E99-F81CC1B38304}" type="presParOf" srcId="{257A5B43-EC62-4656-97BF-C02B8BE57372}" destId="{2AE5861E-43C2-424C-8E08-844D471B2D45}" srcOrd="1" destOrd="0" presId="urn:microsoft.com/office/officeart/2005/8/layout/list1"/>
    <dgm:cxn modelId="{FD882340-409D-4A79-9E8E-61E72DDBB785}" type="presParOf" srcId="{D48C25F1-CB59-41A9-8AC1-9A662BA6002D}" destId="{3FE40EBD-ED59-492A-87D1-EFC6E8789CF2}" srcOrd="17" destOrd="0" presId="urn:microsoft.com/office/officeart/2005/8/layout/list1"/>
    <dgm:cxn modelId="{A4329A5D-534A-41C5-8021-BD2310A5057A}" type="presParOf" srcId="{D48C25F1-CB59-41A9-8AC1-9A662BA6002D}" destId="{D61EB7C9-BD5D-4FD2-B82D-0D57817578A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73F0F9-FB64-40C7-B061-1FABBAE904B3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647604E-A488-447C-AB93-76C17BB5EF31}">
      <dgm:prSet phldrT="[Text]"/>
      <dgm:spPr/>
      <dgm:t>
        <a:bodyPr/>
        <a:lstStyle/>
        <a:p>
          <a:pPr>
            <a:buNone/>
          </a:pPr>
          <a:r>
            <a:rPr lang="en-US" b="1" i="0" dirty="0"/>
            <a:t>Objective:</a:t>
          </a:r>
          <a:r>
            <a:rPr lang="en-US" b="0" i="0" dirty="0"/>
            <a:t> Launch pilots and generate social proof for case-study-driven selling</a:t>
          </a:r>
          <a:endParaRPr lang="en-IN" dirty="0"/>
        </a:p>
      </dgm:t>
    </dgm:pt>
    <dgm:pt modelId="{54339AB0-C1A2-4FD2-92D1-9E1C6D832A13}" type="parTrans" cxnId="{B202802C-69E6-428F-AB5E-A13DDC236DCE}">
      <dgm:prSet/>
      <dgm:spPr/>
      <dgm:t>
        <a:bodyPr/>
        <a:lstStyle/>
        <a:p>
          <a:endParaRPr lang="en-IN"/>
        </a:p>
      </dgm:t>
    </dgm:pt>
    <dgm:pt modelId="{DBEB6DAE-FFA9-4BD5-8913-9EAA852C5BDE}" type="sibTrans" cxnId="{B202802C-69E6-428F-AB5E-A13DDC236DCE}">
      <dgm:prSet/>
      <dgm:spPr/>
      <dgm:t>
        <a:bodyPr/>
        <a:lstStyle/>
        <a:p>
          <a:endParaRPr lang="en-IN"/>
        </a:p>
      </dgm:t>
    </dgm:pt>
    <dgm:pt modelId="{1A5C42D6-D78D-4FDC-B0A9-341E11073EDF}">
      <dgm:prSet phldrT="[Text]"/>
      <dgm:spPr/>
      <dgm:t>
        <a:bodyPr/>
        <a:lstStyle/>
        <a:p>
          <a:pPr>
            <a:buNone/>
          </a:pPr>
          <a:r>
            <a:rPr lang="en-US" b="1" i="0" dirty="0"/>
            <a:t>Objective:</a:t>
          </a:r>
          <a:r>
            <a:rPr lang="en-US" b="0" i="0" dirty="0"/>
            <a:t> Establish regional ecosystem presence and hit 10-15 paying colleges</a:t>
          </a:r>
          <a:endParaRPr lang="en-IN" dirty="0"/>
        </a:p>
      </dgm:t>
    </dgm:pt>
    <dgm:pt modelId="{94758A65-4E6E-46D9-BE95-E4ED8280F389}" type="parTrans" cxnId="{27DBB01A-2CB8-4D74-BAAA-91B94AD686B8}">
      <dgm:prSet/>
      <dgm:spPr/>
      <dgm:t>
        <a:bodyPr/>
        <a:lstStyle/>
        <a:p>
          <a:endParaRPr lang="en-IN"/>
        </a:p>
      </dgm:t>
    </dgm:pt>
    <dgm:pt modelId="{34C26926-9E8F-411F-8F21-4656367E8C86}" type="sibTrans" cxnId="{27DBB01A-2CB8-4D74-BAAA-91B94AD686B8}">
      <dgm:prSet/>
      <dgm:spPr/>
      <dgm:t>
        <a:bodyPr/>
        <a:lstStyle/>
        <a:p>
          <a:endParaRPr lang="en-IN"/>
        </a:p>
      </dgm:t>
    </dgm:pt>
    <dgm:pt modelId="{FF3AFA3E-A17F-4926-8FA3-1B5040267768}">
      <dgm:prSet phldrT="[Text]"/>
      <dgm:spPr/>
      <dgm:t>
        <a:bodyPr/>
        <a:lstStyle/>
        <a:p>
          <a:pPr>
            <a:buNone/>
          </a:pPr>
          <a:r>
            <a:rPr lang="en-US" b="1" i="0" dirty="0"/>
            <a:t>Objective:</a:t>
          </a:r>
          <a:r>
            <a:rPr lang="en-US" b="0" i="0" dirty="0"/>
            <a:t> Move from vision to productized offering with validated messaging</a:t>
          </a:r>
          <a:endParaRPr lang="en-IN" dirty="0"/>
        </a:p>
      </dgm:t>
    </dgm:pt>
    <dgm:pt modelId="{2D574139-CE57-497C-BEB8-BA4E5844E993}" type="parTrans" cxnId="{84CE45FE-5063-4613-8711-1505509942E1}">
      <dgm:prSet/>
      <dgm:spPr/>
      <dgm:t>
        <a:bodyPr/>
        <a:lstStyle/>
        <a:p>
          <a:endParaRPr lang="en-IN"/>
        </a:p>
      </dgm:t>
    </dgm:pt>
    <dgm:pt modelId="{3171AF9B-7558-4A78-8F23-828226CA340F}" type="sibTrans" cxnId="{84CE45FE-5063-4613-8711-1505509942E1}">
      <dgm:prSet/>
      <dgm:spPr/>
      <dgm:t>
        <a:bodyPr/>
        <a:lstStyle/>
        <a:p>
          <a:endParaRPr lang="en-IN"/>
        </a:p>
      </dgm:t>
    </dgm:pt>
    <dgm:pt modelId="{6B4A9F57-DC30-4A2D-88D4-9D185A9624E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2-3 Program SKUs</a:t>
          </a:r>
          <a:r>
            <a:rPr lang="en-US" b="0" i="0" dirty="0"/>
            <a:t> — Packaged clear offerings (e.g., Year-long Campus Ecosystem, 6-month Innovation Track, Faculty Bootcamp)</a:t>
          </a:r>
        </a:p>
      </dgm:t>
    </dgm:pt>
    <dgm:pt modelId="{CF4EECAC-D291-40FD-8373-0B3397CBDB5B}" type="parTrans" cxnId="{7FAD6601-08A5-4576-BDC6-9B07DA783ABB}">
      <dgm:prSet/>
      <dgm:spPr/>
      <dgm:t>
        <a:bodyPr/>
        <a:lstStyle/>
        <a:p>
          <a:endParaRPr lang="en-IN"/>
        </a:p>
      </dgm:t>
    </dgm:pt>
    <dgm:pt modelId="{D114D24B-4A49-46C4-8440-C3E861E1E40E}" type="sibTrans" cxnId="{7FAD6601-08A5-4576-BDC6-9B07DA783ABB}">
      <dgm:prSet/>
      <dgm:spPr/>
      <dgm:t>
        <a:bodyPr/>
        <a:lstStyle/>
        <a:p>
          <a:endParaRPr lang="en-IN"/>
        </a:p>
      </dgm:t>
    </dgm:pt>
    <dgm:pt modelId="{8B6BB6EF-71E5-44E8-B87F-ACBC6DF9881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Clarified ICP &amp; Build Target List</a:t>
          </a:r>
          <a:r>
            <a:rPr lang="en-US" b="0" i="0" dirty="0"/>
            <a:t> — Document ideal college profile (Tier-3 autonomous/private, weak placements, ambitious management) and create prioritized list of 30-40 colleges</a:t>
          </a:r>
        </a:p>
      </dgm:t>
    </dgm:pt>
    <dgm:pt modelId="{9A26E6A2-6F40-4A1B-9E68-6758608987BE}" type="parTrans" cxnId="{6B9021B2-5BA8-4B95-A119-A98022074CDF}">
      <dgm:prSet/>
      <dgm:spPr/>
      <dgm:t>
        <a:bodyPr/>
        <a:lstStyle/>
        <a:p>
          <a:endParaRPr lang="en-IN"/>
        </a:p>
      </dgm:t>
    </dgm:pt>
    <dgm:pt modelId="{AC71545A-CDCE-407C-9E04-8E4EA2E74AD3}" type="sibTrans" cxnId="{6B9021B2-5BA8-4B95-A119-A98022074CDF}">
      <dgm:prSet/>
      <dgm:spPr/>
      <dgm:t>
        <a:bodyPr/>
        <a:lstStyle/>
        <a:p>
          <a:endParaRPr lang="en-IN"/>
        </a:p>
      </dgm:t>
    </dgm:pt>
    <dgm:pt modelId="{81A7ABE0-D9E0-4454-ACFD-E8AC0951E2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Created Outcome Framework</a:t>
          </a:r>
          <a:r>
            <a:rPr lang="en-US" b="0" i="0" dirty="0"/>
            <a:t> — Defined measurable impact metrics (# prototypes, startups launched, internship conversions, faculty trained)</a:t>
          </a:r>
        </a:p>
      </dgm:t>
    </dgm:pt>
    <dgm:pt modelId="{0C80ECF6-98CC-4F4D-9302-43CEAF8BFC3E}" type="parTrans" cxnId="{34B114DD-A828-476B-BF0A-36A834D1A209}">
      <dgm:prSet/>
      <dgm:spPr/>
      <dgm:t>
        <a:bodyPr/>
        <a:lstStyle/>
        <a:p>
          <a:endParaRPr lang="en-IN"/>
        </a:p>
      </dgm:t>
    </dgm:pt>
    <dgm:pt modelId="{4168A14E-A09A-45D5-886D-20166008C837}" type="sibTrans" cxnId="{34B114DD-A828-476B-BF0A-36A834D1A209}">
      <dgm:prSet/>
      <dgm:spPr/>
      <dgm:t>
        <a:bodyPr/>
        <a:lstStyle/>
        <a:p>
          <a:endParaRPr lang="en-IN"/>
        </a:p>
      </dgm:t>
    </dgm:pt>
    <dgm:pt modelId="{426A3A5D-F1ED-4B52-B357-04B04340743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Building GTM Assets v1</a:t>
          </a:r>
          <a:r>
            <a:rPr lang="en-US" b="0" i="0" dirty="0"/>
            <a:t> — One-pager for Principals, 6-slide sales deck, landing page copy, pricing tiers</a:t>
          </a:r>
        </a:p>
      </dgm:t>
    </dgm:pt>
    <dgm:pt modelId="{D084A44A-7A2E-4FEB-91FE-455B0334395C}" type="parTrans" cxnId="{54172EEB-F9AE-4AE2-B34C-1BED75D1D01D}">
      <dgm:prSet/>
      <dgm:spPr/>
      <dgm:t>
        <a:bodyPr/>
        <a:lstStyle/>
        <a:p>
          <a:endParaRPr lang="en-IN"/>
        </a:p>
      </dgm:t>
    </dgm:pt>
    <dgm:pt modelId="{FC385AF4-AD26-4031-A3CF-0D54F592530D}" type="sibTrans" cxnId="{54172EEB-F9AE-4AE2-B34C-1BED75D1D01D}">
      <dgm:prSet/>
      <dgm:spPr/>
      <dgm:t>
        <a:bodyPr/>
        <a:lstStyle/>
        <a:p>
          <a:endParaRPr lang="en-IN"/>
        </a:p>
      </dgm:t>
    </dgm:pt>
    <dgm:pt modelId="{6083D95B-698F-4844-B98A-DC8AFC6723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Ran 10-15 Discovery Calls</a:t>
          </a:r>
          <a:r>
            <a:rPr lang="en-US" b="0" i="0" dirty="0"/>
            <a:t> — Interview target colleges to validate pain points, and decision-making cycles</a:t>
          </a:r>
        </a:p>
      </dgm:t>
    </dgm:pt>
    <dgm:pt modelId="{B00378E1-C7CF-4766-A193-8639D4376854}" type="parTrans" cxnId="{F2D72508-B68B-4003-BA01-8307D38950F5}">
      <dgm:prSet/>
      <dgm:spPr/>
      <dgm:t>
        <a:bodyPr/>
        <a:lstStyle/>
        <a:p>
          <a:endParaRPr lang="en-IN"/>
        </a:p>
      </dgm:t>
    </dgm:pt>
    <dgm:pt modelId="{E8403DB5-FF32-4EA2-A366-E5A74763A650}" type="sibTrans" cxnId="{F2D72508-B68B-4003-BA01-8307D38950F5}">
      <dgm:prSet/>
      <dgm:spPr/>
      <dgm:t>
        <a:bodyPr/>
        <a:lstStyle/>
        <a:p>
          <a:endParaRPr lang="en-IN"/>
        </a:p>
      </dgm:t>
    </dgm:pt>
    <dgm:pt modelId="{5F1E2957-4FEC-4FB1-A4BB-0F450A426BF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Launch 3-5 Pilot Campuses</a:t>
          </a:r>
          <a:r>
            <a:rPr lang="en-US" b="0" i="0"/>
            <a:t> — Execute structured 90-day programs with defined cohorts, problem statements, mentor calendar, and demo days</a:t>
          </a:r>
        </a:p>
      </dgm:t>
    </dgm:pt>
    <dgm:pt modelId="{0EE864B8-6BBA-43C5-9E89-C88801F08511}" type="parTrans" cxnId="{DD738924-2B65-4ED1-AF29-F3842B4750C5}">
      <dgm:prSet/>
      <dgm:spPr/>
      <dgm:t>
        <a:bodyPr/>
        <a:lstStyle/>
        <a:p>
          <a:endParaRPr lang="en-IN"/>
        </a:p>
      </dgm:t>
    </dgm:pt>
    <dgm:pt modelId="{4A52C590-AF21-498F-BB88-5C25F3F595A9}" type="sibTrans" cxnId="{DD738924-2B65-4ED1-AF29-F3842B4750C5}">
      <dgm:prSet/>
      <dgm:spPr/>
      <dgm:t>
        <a:bodyPr/>
        <a:lstStyle/>
        <a:p>
          <a:endParaRPr lang="en-IN"/>
        </a:p>
      </dgm:t>
    </dgm:pt>
    <dgm:pt modelId="{7744DAEF-6AD4-4E6A-AFE9-CDEE5F8C5F6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Standardize Delivery Playbooks</a:t>
          </a:r>
          <a:r>
            <a:rPr lang="en-US" b="0" i="0"/>
            <a:t> — Document program templates, weekly calendars, mentor guidelines, and college reporting dashboards</a:t>
          </a:r>
        </a:p>
      </dgm:t>
    </dgm:pt>
    <dgm:pt modelId="{3EFC7D9F-1BD2-48C3-A85B-2642FD696381}" type="parTrans" cxnId="{23B7D02C-51D8-422F-B330-7AF53D2113BF}">
      <dgm:prSet/>
      <dgm:spPr/>
      <dgm:t>
        <a:bodyPr/>
        <a:lstStyle/>
        <a:p>
          <a:endParaRPr lang="en-IN"/>
        </a:p>
      </dgm:t>
    </dgm:pt>
    <dgm:pt modelId="{20A2438D-CD16-406B-B591-E540E062BCDE}" type="sibTrans" cxnId="{23B7D02C-51D8-422F-B330-7AF53D2113BF}">
      <dgm:prSet/>
      <dgm:spPr/>
      <dgm:t>
        <a:bodyPr/>
        <a:lstStyle/>
        <a:p>
          <a:endParaRPr lang="en-IN"/>
        </a:p>
      </dgm:t>
    </dgm:pt>
    <dgm:pt modelId="{88AC2AA9-BCAD-4C33-8DD9-C3119775C98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Produce 2-3 Case Studies</a:t>
          </a:r>
          <a:r>
            <a:rPr lang="en-US" b="0" i="0"/>
            <a:t> — Publish mini-success stories with college names, starting maturity levels, outcomes, and testimonials</a:t>
          </a:r>
        </a:p>
      </dgm:t>
    </dgm:pt>
    <dgm:pt modelId="{A8589664-E087-4CF1-91C6-A7840E1CCB40}" type="parTrans" cxnId="{36FCA5B6-B5CD-437D-8A87-B7B91EE3943C}">
      <dgm:prSet/>
      <dgm:spPr/>
      <dgm:t>
        <a:bodyPr/>
        <a:lstStyle/>
        <a:p>
          <a:endParaRPr lang="en-IN"/>
        </a:p>
      </dgm:t>
    </dgm:pt>
    <dgm:pt modelId="{4254A901-25EB-48BE-A72E-7F194C300DDE}" type="sibTrans" cxnId="{36FCA5B6-B5CD-437D-8A87-B7B91EE3943C}">
      <dgm:prSet/>
      <dgm:spPr/>
      <dgm:t>
        <a:bodyPr/>
        <a:lstStyle/>
        <a:p>
          <a:endParaRPr lang="en-IN"/>
        </a:p>
      </dgm:t>
    </dgm:pt>
    <dgm:pt modelId="{53CB6989-45AB-44EB-AEEA-006EB14898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Build Thought Leadership Engine</a:t>
          </a:r>
          <a:r>
            <a:rPr lang="en-US" b="0" i="0"/>
            <a:t> — Post 2x/week on LinkedIn about Tier-3 innovation, publish 5-10 student/faculty testimonial videos</a:t>
          </a:r>
        </a:p>
      </dgm:t>
    </dgm:pt>
    <dgm:pt modelId="{D497BA68-5F03-4956-90CB-8B2F2595A49B}" type="parTrans" cxnId="{2BBB686C-4C9E-4807-B35E-F87BA0EF8C61}">
      <dgm:prSet/>
      <dgm:spPr/>
      <dgm:t>
        <a:bodyPr/>
        <a:lstStyle/>
        <a:p>
          <a:endParaRPr lang="en-IN"/>
        </a:p>
      </dgm:t>
    </dgm:pt>
    <dgm:pt modelId="{C8B6B4A5-7008-4F96-ABB8-986D331BF909}" type="sibTrans" cxnId="{2BBB686C-4C9E-4807-B35E-F87BA0EF8C61}">
      <dgm:prSet/>
      <dgm:spPr/>
      <dgm:t>
        <a:bodyPr/>
        <a:lstStyle/>
        <a:p>
          <a:endParaRPr lang="en-IN"/>
        </a:p>
      </dgm:t>
    </dgm:pt>
    <dgm:pt modelId="{B37DCC4E-BE65-4DB8-9B3D-E713141F54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Convert Pilots to Renewals</a:t>
          </a:r>
          <a:r>
            <a:rPr lang="en-US" b="0" i="0" dirty="0"/>
            <a:t> — Secure multi-year commitments from pilot colleges and initiate 1-2 ecosystem partnerships (e.g., skill-tech or CSR tie-ups)</a:t>
          </a:r>
        </a:p>
      </dgm:t>
    </dgm:pt>
    <dgm:pt modelId="{060F2480-1EEE-4C53-AC2B-0C6FC2608BF2}" type="parTrans" cxnId="{58054B8D-B1F8-4FDD-B7C3-D5FA6059BAEF}">
      <dgm:prSet/>
      <dgm:spPr/>
      <dgm:t>
        <a:bodyPr/>
        <a:lstStyle/>
        <a:p>
          <a:endParaRPr lang="en-IN"/>
        </a:p>
      </dgm:t>
    </dgm:pt>
    <dgm:pt modelId="{DDED8382-EEF5-45D1-B0F7-8F952D556A4E}" type="sibTrans" cxnId="{58054B8D-B1F8-4FDD-B7C3-D5FA6059BAEF}">
      <dgm:prSet/>
      <dgm:spPr/>
      <dgm:t>
        <a:bodyPr/>
        <a:lstStyle/>
        <a:p>
          <a:endParaRPr lang="en-IN"/>
        </a:p>
      </dgm:t>
    </dgm:pt>
    <dgm:pt modelId="{D24F75A6-D034-4D69-B931-176585B5601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Launch Cluster Ecosystem Model</a:t>
          </a:r>
          <a:r>
            <a:rPr lang="en-US" b="0" i="0" dirty="0"/>
            <a:t> — Identify 1 "lead college" + 3-5 surrounding colleges per district to create regional innovation hubs</a:t>
          </a:r>
        </a:p>
      </dgm:t>
    </dgm:pt>
    <dgm:pt modelId="{7D1BAE10-D082-4D57-B5C5-48E6B974452E}" type="parTrans" cxnId="{C24D8E43-9629-4A93-900A-2A59201FCB43}">
      <dgm:prSet/>
      <dgm:spPr/>
      <dgm:t>
        <a:bodyPr/>
        <a:lstStyle/>
        <a:p>
          <a:endParaRPr lang="en-IN"/>
        </a:p>
      </dgm:t>
    </dgm:pt>
    <dgm:pt modelId="{05FFE200-6782-4437-A03A-8B3A3AB8A44C}" type="sibTrans" cxnId="{C24D8E43-9629-4A93-900A-2A59201FCB43}">
      <dgm:prSet/>
      <dgm:spPr/>
      <dgm:t>
        <a:bodyPr/>
        <a:lstStyle/>
        <a:p>
          <a:endParaRPr lang="en-IN"/>
        </a:p>
      </dgm:t>
    </dgm:pt>
    <dgm:pt modelId="{5213D785-3BC9-4E2F-9220-C03803055FB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Publish Impact Snapshot 2026</a:t>
          </a:r>
          <a:r>
            <a:rPr lang="en-US" b="0" i="0"/>
            <a:t> — Release mini annual report with metrics (colleges onboarded, students reached, prototypes, startups, regional breakdown)</a:t>
          </a:r>
        </a:p>
      </dgm:t>
    </dgm:pt>
    <dgm:pt modelId="{10FC6B7D-FBD9-412E-A595-81D0A242D612}" type="parTrans" cxnId="{8BB83ECE-491A-4027-9C51-248879417283}">
      <dgm:prSet/>
      <dgm:spPr/>
      <dgm:t>
        <a:bodyPr/>
        <a:lstStyle/>
        <a:p>
          <a:endParaRPr lang="en-IN"/>
        </a:p>
      </dgm:t>
    </dgm:pt>
    <dgm:pt modelId="{61EC126D-E9D0-49D8-9742-A22059A6CB9E}" type="sibTrans" cxnId="{8BB83ECE-491A-4027-9C51-248879417283}">
      <dgm:prSet/>
      <dgm:spPr/>
      <dgm:t>
        <a:bodyPr/>
        <a:lstStyle/>
        <a:p>
          <a:endParaRPr lang="en-IN"/>
        </a:p>
      </dgm:t>
    </dgm:pt>
    <dgm:pt modelId="{BFB06B7E-A154-46F7-9E3A-77EB5A14198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Run Regional Campus Innovation Summit</a:t>
          </a:r>
          <a:r>
            <a:rPr lang="en-US" b="0" i="0"/>
            <a:t> — Host offline event with 100-150 attendees (principals, faculty, students, local industry) for visibility and pipeline</a:t>
          </a:r>
        </a:p>
      </dgm:t>
    </dgm:pt>
    <dgm:pt modelId="{BED8DA54-F037-457D-BFBF-05F9A8D8F2BD}" type="parTrans" cxnId="{835E4B05-B5F9-4DF0-8622-07F66DA68EBC}">
      <dgm:prSet/>
      <dgm:spPr/>
      <dgm:t>
        <a:bodyPr/>
        <a:lstStyle/>
        <a:p>
          <a:endParaRPr lang="en-IN"/>
        </a:p>
      </dgm:t>
    </dgm:pt>
    <dgm:pt modelId="{492A6326-0E9A-414E-90CE-36AB371FF224}" type="sibTrans" cxnId="{835E4B05-B5F9-4DF0-8622-07F66DA68EBC}">
      <dgm:prSet/>
      <dgm:spPr/>
      <dgm:t>
        <a:bodyPr/>
        <a:lstStyle/>
        <a:p>
          <a:endParaRPr lang="en-IN"/>
        </a:p>
      </dgm:t>
    </dgm:pt>
    <dgm:pt modelId="{6C01544A-4034-4868-AF6E-0C8218F7B1E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Target 10-15 Paying Colleges</a:t>
          </a:r>
          <a:r>
            <a:rPr lang="en-US" b="0" i="0"/>
            <a:t> — Close contracts with at least 3 colleges at Level 4 maturity (Ecosystem-Driven) showing demonstrable transformation</a:t>
          </a:r>
        </a:p>
      </dgm:t>
    </dgm:pt>
    <dgm:pt modelId="{AB9A3970-E465-480A-BC6B-A5A68F9E1A32}" type="parTrans" cxnId="{9DB6F810-30E4-45F5-AD41-70C449DE9D62}">
      <dgm:prSet/>
      <dgm:spPr/>
      <dgm:t>
        <a:bodyPr/>
        <a:lstStyle/>
        <a:p>
          <a:endParaRPr lang="en-IN"/>
        </a:p>
      </dgm:t>
    </dgm:pt>
    <dgm:pt modelId="{E27B03AB-48F2-44FE-A5F2-9D256FA2443D}" type="sibTrans" cxnId="{9DB6F810-30E4-45F5-AD41-70C449DE9D62}">
      <dgm:prSet/>
      <dgm:spPr/>
      <dgm:t>
        <a:bodyPr/>
        <a:lstStyle/>
        <a:p>
          <a:endParaRPr lang="en-IN"/>
        </a:p>
      </dgm:t>
    </dgm:pt>
    <dgm:pt modelId="{14BEADAE-6CFD-4351-8000-B432BCA4B3E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Build State/CSR Partnership Pipeline</a:t>
          </a:r>
          <a:r>
            <a:rPr lang="en-US" b="0" i="0"/>
            <a:t> — Begin discussions with state education departments or corporate CSR programs to underwrite rural college programs</a:t>
          </a:r>
        </a:p>
      </dgm:t>
    </dgm:pt>
    <dgm:pt modelId="{7D6522D7-29C9-4271-BBA9-845E792855B7}" type="parTrans" cxnId="{449517F6-065B-4C51-B408-ECFC6A0B0713}">
      <dgm:prSet/>
      <dgm:spPr/>
      <dgm:t>
        <a:bodyPr/>
        <a:lstStyle/>
        <a:p>
          <a:endParaRPr lang="en-IN"/>
        </a:p>
      </dgm:t>
    </dgm:pt>
    <dgm:pt modelId="{4F8658EC-2ADA-4C15-A232-3C8CB996420A}" type="sibTrans" cxnId="{449517F6-065B-4C51-B408-ECFC6A0B0713}">
      <dgm:prSet/>
      <dgm:spPr/>
      <dgm:t>
        <a:bodyPr/>
        <a:lstStyle/>
        <a:p>
          <a:endParaRPr lang="en-IN"/>
        </a:p>
      </dgm:t>
    </dgm:pt>
    <dgm:pt modelId="{FEDBDD91-06B4-47EA-B844-A2ADF041063F}" type="pres">
      <dgm:prSet presAssocID="{4573F0F9-FB64-40C7-B061-1FABBAE904B3}" presName="rootnode" presStyleCnt="0">
        <dgm:presLayoutVars>
          <dgm:chMax/>
          <dgm:chPref/>
          <dgm:dir/>
          <dgm:animLvl val="lvl"/>
        </dgm:presLayoutVars>
      </dgm:prSet>
      <dgm:spPr/>
    </dgm:pt>
    <dgm:pt modelId="{65307C8E-787D-4911-A7F7-3BA3ED304FEB}" type="pres">
      <dgm:prSet presAssocID="{FF3AFA3E-A17F-4926-8FA3-1B5040267768}" presName="composite" presStyleCnt="0"/>
      <dgm:spPr/>
    </dgm:pt>
    <dgm:pt modelId="{BE56770A-CC28-41A8-B3B7-F7C0E86C406B}" type="pres">
      <dgm:prSet presAssocID="{FF3AFA3E-A17F-4926-8FA3-1B5040267768}" presName="LShape" presStyleLbl="alignNode1" presStyleIdx="0" presStyleCnt="5"/>
      <dgm:spPr/>
    </dgm:pt>
    <dgm:pt modelId="{55F51F17-9BC8-49A5-A8B2-680662CA7A09}" type="pres">
      <dgm:prSet presAssocID="{FF3AFA3E-A17F-4926-8FA3-1B5040267768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C03B0680-AB51-4867-B8B2-79FED38B3E55}" type="pres">
      <dgm:prSet presAssocID="{FF3AFA3E-A17F-4926-8FA3-1B5040267768}" presName="Triangle" presStyleLbl="alignNode1" presStyleIdx="1" presStyleCnt="5"/>
      <dgm:spPr/>
    </dgm:pt>
    <dgm:pt modelId="{022D85EA-D01C-4363-953F-D845F05E00CB}" type="pres">
      <dgm:prSet presAssocID="{3171AF9B-7558-4A78-8F23-828226CA340F}" presName="sibTrans" presStyleCnt="0"/>
      <dgm:spPr/>
    </dgm:pt>
    <dgm:pt modelId="{99C70B4D-506B-46F7-8B76-72C360BEEF2A}" type="pres">
      <dgm:prSet presAssocID="{3171AF9B-7558-4A78-8F23-828226CA340F}" presName="space" presStyleCnt="0"/>
      <dgm:spPr/>
    </dgm:pt>
    <dgm:pt modelId="{09F43F9C-C3FE-4D7C-A68E-017CF793C480}" type="pres">
      <dgm:prSet presAssocID="{8647604E-A488-447C-AB93-76C17BB5EF31}" presName="composite" presStyleCnt="0"/>
      <dgm:spPr/>
    </dgm:pt>
    <dgm:pt modelId="{2DCD2D33-9B20-4FD7-8672-68B5C48C3FF7}" type="pres">
      <dgm:prSet presAssocID="{8647604E-A488-447C-AB93-76C17BB5EF31}" presName="LShape" presStyleLbl="alignNode1" presStyleIdx="2" presStyleCnt="5"/>
      <dgm:spPr/>
    </dgm:pt>
    <dgm:pt modelId="{3DCEB314-BE3C-4EE4-9E67-F6F1E5B71607}" type="pres">
      <dgm:prSet presAssocID="{8647604E-A488-447C-AB93-76C17BB5EF31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04044D5-EC8D-4793-A61A-55816FE08EB5}" type="pres">
      <dgm:prSet presAssocID="{8647604E-A488-447C-AB93-76C17BB5EF31}" presName="Triangle" presStyleLbl="alignNode1" presStyleIdx="3" presStyleCnt="5"/>
      <dgm:spPr/>
    </dgm:pt>
    <dgm:pt modelId="{75280525-CCE7-47D8-AAF8-110DDC992E62}" type="pres">
      <dgm:prSet presAssocID="{DBEB6DAE-FFA9-4BD5-8913-9EAA852C5BDE}" presName="sibTrans" presStyleCnt="0"/>
      <dgm:spPr/>
    </dgm:pt>
    <dgm:pt modelId="{1858FB80-4B7B-496D-ACFC-DA5883FA3F59}" type="pres">
      <dgm:prSet presAssocID="{DBEB6DAE-FFA9-4BD5-8913-9EAA852C5BDE}" presName="space" presStyleCnt="0"/>
      <dgm:spPr/>
    </dgm:pt>
    <dgm:pt modelId="{AC8057C2-26E0-4DEF-8C46-7F16535CF2A4}" type="pres">
      <dgm:prSet presAssocID="{1A5C42D6-D78D-4FDC-B0A9-341E11073EDF}" presName="composite" presStyleCnt="0"/>
      <dgm:spPr/>
    </dgm:pt>
    <dgm:pt modelId="{F3D84DEB-41C1-418C-9DFE-A3A104EA4FAE}" type="pres">
      <dgm:prSet presAssocID="{1A5C42D6-D78D-4FDC-B0A9-341E11073EDF}" presName="LShape" presStyleLbl="alignNode1" presStyleIdx="4" presStyleCnt="5"/>
      <dgm:spPr/>
    </dgm:pt>
    <dgm:pt modelId="{ED4948FF-1496-4BBC-8DE2-96B9AE8EF267}" type="pres">
      <dgm:prSet presAssocID="{1A5C42D6-D78D-4FDC-B0A9-341E11073EDF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9C002E01-CECB-4E8B-B904-2DC147A9A1DB}" type="presOf" srcId="{BFB06B7E-A154-46F7-9E3A-77EB5A141984}" destId="{ED4948FF-1496-4BBC-8DE2-96B9AE8EF267}" srcOrd="0" destOrd="3" presId="urn:microsoft.com/office/officeart/2009/3/layout/StepUpProcess"/>
    <dgm:cxn modelId="{7FAD6601-08A5-4576-BDC6-9B07DA783ABB}" srcId="{FF3AFA3E-A17F-4926-8FA3-1B5040267768}" destId="{6B4A9F57-DC30-4A2D-88D4-9D185A9624E4}" srcOrd="0" destOrd="0" parTransId="{CF4EECAC-D291-40FD-8373-0B3397CBDB5B}" sibTransId="{D114D24B-4A49-46C4-8440-C3E861E1E40E}"/>
    <dgm:cxn modelId="{835E4B05-B5F9-4DF0-8622-07F66DA68EBC}" srcId="{1A5C42D6-D78D-4FDC-B0A9-341E11073EDF}" destId="{BFB06B7E-A154-46F7-9E3A-77EB5A141984}" srcOrd="2" destOrd="0" parTransId="{BED8DA54-F037-457D-BFBF-05F9A8D8F2BD}" sibTransId="{492A6326-0E9A-414E-90CE-36AB371FF224}"/>
    <dgm:cxn modelId="{F2D72508-B68B-4003-BA01-8307D38950F5}" srcId="{FF3AFA3E-A17F-4926-8FA3-1B5040267768}" destId="{6083D95B-698F-4844-B98A-DC8AFC67237F}" srcOrd="4" destOrd="0" parTransId="{B00378E1-C7CF-4766-A193-8639D4376854}" sibTransId="{E8403DB5-FF32-4EA2-A366-E5A74763A650}"/>
    <dgm:cxn modelId="{9DB6F810-30E4-45F5-AD41-70C449DE9D62}" srcId="{1A5C42D6-D78D-4FDC-B0A9-341E11073EDF}" destId="{6C01544A-4034-4868-AF6E-0C8218F7B1EA}" srcOrd="3" destOrd="0" parTransId="{AB9A3970-E465-480A-BC6B-A5A68F9E1A32}" sibTransId="{E27B03AB-48F2-44FE-A5F2-9D256FA2443D}"/>
    <dgm:cxn modelId="{27DBB01A-2CB8-4D74-BAAA-91B94AD686B8}" srcId="{4573F0F9-FB64-40C7-B061-1FABBAE904B3}" destId="{1A5C42D6-D78D-4FDC-B0A9-341E11073EDF}" srcOrd="2" destOrd="0" parTransId="{94758A65-4E6E-46D9-BE95-E4ED8280F389}" sibTransId="{34C26926-9E8F-411F-8F21-4656367E8C86}"/>
    <dgm:cxn modelId="{9902EB1E-8F35-455F-ABE1-D1C84F9AA8E6}" type="presOf" srcId="{6B4A9F57-DC30-4A2D-88D4-9D185A9624E4}" destId="{55F51F17-9BC8-49A5-A8B2-680662CA7A09}" srcOrd="0" destOrd="1" presId="urn:microsoft.com/office/officeart/2009/3/layout/StepUpProcess"/>
    <dgm:cxn modelId="{EE43E521-FF5C-4C2D-82FE-4DC293B3A478}" type="presOf" srcId="{8647604E-A488-447C-AB93-76C17BB5EF31}" destId="{3DCEB314-BE3C-4EE4-9E67-F6F1E5B71607}" srcOrd="0" destOrd="0" presId="urn:microsoft.com/office/officeart/2009/3/layout/StepUpProcess"/>
    <dgm:cxn modelId="{DD738924-2B65-4ED1-AF29-F3842B4750C5}" srcId="{8647604E-A488-447C-AB93-76C17BB5EF31}" destId="{5F1E2957-4FEC-4FB1-A4BB-0F450A426BF4}" srcOrd="0" destOrd="0" parTransId="{0EE864B8-6BBA-43C5-9E89-C88801F08511}" sibTransId="{4A52C590-AF21-498F-BB88-5C25F3F595A9}"/>
    <dgm:cxn modelId="{B202802C-69E6-428F-AB5E-A13DDC236DCE}" srcId="{4573F0F9-FB64-40C7-B061-1FABBAE904B3}" destId="{8647604E-A488-447C-AB93-76C17BB5EF31}" srcOrd="1" destOrd="0" parTransId="{54339AB0-C1A2-4FD2-92D1-9E1C6D832A13}" sibTransId="{DBEB6DAE-FFA9-4BD5-8913-9EAA852C5BDE}"/>
    <dgm:cxn modelId="{23B7D02C-51D8-422F-B330-7AF53D2113BF}" srcId="{8647604E-A488-447C-AB93-76C17BB5EF31}" destId="{7744DAEF-6AD4-4E6A-AFE9-CDEE5F8C5F6C}" srcOrd="1" destOrd="0" parTransId="{3EFC7D9F-1BD2-48C3-A85B-2642FD696381}" sibTransId="{20A2438D-CD16-406B-B591-E540E062BCDE}"/>
    <dgm:cxn modelId="{172EB333-AF96-4670-87BF-5363EF64011B}" type="presOf" srcId="{D24F75A6-D034-4D69-B931-176585B5601C}" destId="{ED4948FF-1496-4BBC-8DE2-96B9AE8EF267}" srcOrd="0" destOrd="1" presId="urn:microsoft.com/office/officeart/2009/3/layout/StepUpProcess"/>
    <dgm:cxn modelId="{C24D8E43-9629-4A93-900A-2A59201FCB43}" srcId="{1A5C42D6-D78D-4FDC-B0A9-341E11073EDF}" destId="{D24F75A6-D034-4D69-B931-176585B5601C}" srcOrd="0" destOrd="0" parTransId="{7D1BAE10-D082-4D57-B5C5-48E6B974452E}" sibTransId="{05FFE200-6782-4437-A03A-8B3A3AB8A44C}"/>
    <dgm:cxn modelId="{DBA6BE48-83E3-42DB-B022-DF83B1CA4CD1}" type="presOf" srcId="{4573F0F9-FB64-40C7-B061-1FABBAE904B3}" destId="{FEDBDD91-06B4-47EA-B844-A2ADF041063F}" srcOrd="0" destOrd="0" presId="urn:microsoft.com/office/officeart/2009/3/layout/StepUpProcess"/>
    <dgm:cxn modelId="{E9B7FA69-0DB0-40BD-928A-635B29198750}" type="presOf" srcId="{6C01544A-4034-4868-AF6E-0C8218F7B1EA}" destId="{ED4948FF-1496-4BBC-8DE2-96B9AE8EF267}" srcOrd="0" destOrd="4" presId="urn:microsoft.com/office/officeart/2009/3/layout/StepUpProcess"/>
    <dgm:cxn modelId="{1600694A-8B80-4A26-96BA-082FCD7E7856}" type="presOf" srcId="{14BEADAE-6CFD-4351-8000-B432BCA4B3E8}" destId="{ED4948FF-1496-4BBC-8DE2-96B9AE8EF267}" srcOrd="0" destOrd="5" presId="urn:microsoft.com/office/officeart/2009/3/layout/StepUpProcess"/>
    <dgm:cxn modelId="{00F7A16A-0F42-4064-881B-27E1AC7D0BA4}" type="presOf" srcId="{426A3A5D-F1ED-4B52-B357-04B04340743B}" destId="{55F51F17-9BC8-49A5-A8B2-680662CA7A09}" srcOrd="0" destOrd="4" presId="urn:microsoft.com/office/officeart/2009/3/layout/StepUpProcess"/>
    <dgm:cxn modelId="{2BBB686C-4C9E-4807-B35E-F87BA0EF8C61}" srcId="{8647604E-A488-447C-AB93-76C17BB5EF31}" destId="{53CB6989-45AB-44EB-AEEA-006EB148983A}" srcOrd="3" destOrd="0" parTransId="{D497BA68-5F03-4956-90CB-8B2F2595A49B}" sibTransId="{C8B6B4A5-7008-4F96-ABB8-986D331BF909}"/>
    <dgm:cxn modelId="{26739350-5442-468B-BA1E-DC6EB576B7B5}" type="presOf" srcId="{1A5C42D6-D78D-4FDC-B0A9-341E11073EDF}" destId="{ED4948FF-1496-4BBC-8DE2-96B9AE8EF267}" srcOrd="0" destOrd="0" presId="urn:microsoft.com/office/officeart/2009/3/layout/StepUpProcess"/>
    <dgm:cxn modelId="{9BFFD373-2F5E-4CC3-A55A-0E3C0EB44E3D}" type="presOf" srcId="{7744DAEF-6AD4-4E6A-AFE9-CDEE5F8C5F6C}" destId="{3DCEB314-BE3C-4EE4-9E67-F6F1E5B71607}" srcOrd="0" destOrd="2" presId="urn:microsoft.com/office/officeart/2009/3/layout/StepUpProcess"/>
    <dgm:cxn modelId="{A6291C78-7184-497F-9C48-1B53C6055156}" type="presOf" srcId="{5F1E2957-4FEC-4FB1-A4BB-0F450A426BF4}" destId="{3DCEB314-BE3C-4EE4-9E67-F6F1E5B71607}" srcOrd="0" destOrd="1" presId="urn:microsoft.com/office/officeart/2009/3/layout/StepUpProcess"/>
    <dgm:cxn modelId="{673E8F79-E84C-4394-9708-6C0C2F2411A0}" type="presOf" srcId="{FF3AFA3E-A17F-4926-8FA3-1B5040267768}" destId="{55F51F17-9BC8-49A5-A8B2-680662CA7A09}" srcOrd="0" destOrd="0" presId="urn:microsoft.com/office/officeart/2009/3/layout/StepUpProcess"/>
    <dgm:cxn modelId="{58054B8D-B1F8-4FDD-B7C3-D5FA6059BAEF}" srcId="{8647604E-A488-447C-AB93-76C17BB5EF31}" destId="{B37DCC4E-BE65-4DB8-9B3D-E713141F544B}" srcOrd="4" destOrd="0" parTransId="{060F2480-1EEE-4C53-AC2B-0C6FC2608BF2}" sibTransId="{DDED8382-EEF5-45D1-B0F7-8F952D556A4E}"/>
    <dgm:cxn modelId="{86B7D192-A1DC-4A81-AC19-D66FF5523915}" type="presOf" srcId="{88AC2AA9-BCAD-4C33-8DD9-C3119775C98D}" destId="{3DCEB314-BE3C-4EE4-9E67-F6F1E5B71607}" srcOrd="0" destOrd="3" presId="urn:microsoft.com/office/officeart/2009/3/layout/StepUpProcess"/>
    <dgm:cxn modelId="{450C8598-FD16-48FE-85C5-6EA67CBB8AAD}" type="presOf" srcId="{8B6BB6EF-71E5-44E8-B87F-ACBC6DF98814}" destId="{55F51F17-9BC8-49A5-A8B2-680662CA7A09}" srcOrd="0" destOrd="2" presId="urn:microsoft.com/office/officeart/2009/3/layout/StepUpProcess"/>
    <dgm:cxn modelId="{5E0EE299-0485-4D0C-96A8-D0F9352DA012}" type="presOf" srcId="{53CB6989-45AB-44EB-AEEA-006EB148983A}" destId="{3DCEB314-BE3C-4EE4-9E67-F6F1E5B71607}" srcOrd="0" destOrd="4" presId="urn:microsoft.com/office/officeart/2009/3/layout/StepUpProcess"/>
    <dgm:cxn modelId="{077EAAA9-8F4A-490F-8DC9-19A362CBCC93}" type="presOf" srcId="{6083D95B-698F-4844-B98A-DC8AFC67237F}" destId="{55F51F17-9BC8-49A5-A8B2-680662CA7A09}" srcOrd="0" destOrd="5" presId="urn:microsoft.com/office/officeart/2009/3/layout/StepUpProcess"/>
    <dgm:cxn modelId="{6B9021B2-5BA8-4B95-A119-A98022074CDF}" srcId="{FF3AFA3E-A17F-4926-8FA3-1B5040267768}" destId="{8B6BB6EF-71E5-44E8-B87F-ACBC6DF98814}" srcOrd="1" destOrd="0" parTransId="{9A26E6A2-6F40-4A1B-9E68-6758608987BE}" sibTransId="{AC71545A-CDCE-407C-9E04-8E4EA2E74AD3}"/>
    <dgm:cxn modelId="{36FCA5B6-B5CD-437D-8A87-B7B91EE3943C}" srcId="{8647604E-A488-447C-AB93-76C17BB5EF31}" destId="{88AC2AA9-BCAD-4C33-8DD9-C3119775C98D}" srcOrd="2" destOrd="0" parTransId="{A8589664-E087-4CF1-91C6-A7840E1CCB40}" sibTransId="{4254A901-25EB-48BE-A72E-7F194C300DDE}"/>
    <dgm:cxn modelId="{782AE1BF-BDDF-4850-B8C7-C38405961CFB}" type="presOf" srcId="{5213D785-3BC9-4E2F-9220-C03803055FB9}" destId="{ED4948FF-1496-4BBC-8DE2-96B9AE8EF267}" srcOrd="0" destOrd="2" presId="urn:microsoft.com/office/officeart/2009/3/layout/StepUpProcess"/>
    <dgm:cxn modelId="{8BB83ECE-491A-4027-9C51-248879417283}" srcId="{1A5C42D6-D78D-4FDC-B0A9-341E11073EDF}" destId="{5213D785-3BC9-4E2F-9220-C03803055FB9}" srcOrd="1" destOrd="0" parTransId="{10FC6B7D-FBD9-412E-A595-81D0A242D612}" sibTransId="{61EC126D-E9D0-49D8-9742-A22059A6CB9E}"/>
    <dgm:cxn modelId="{467188CF-713F-4FE9-8F99-857A42CCDF11}" type="presOf" srcId="{B37DCC4E-BE65-4DB8-9B3D-E713141F544B}" destId="{3DCEB314-BE3C-4EE4-9E67-F6F1E5B71607}" srcOrd="0" destOrd="5" presId="urn:microsoft.com/office/officeart/2009/3/layout/StepUpProcess"/>
    <dgm:cxn modelId="{34B114DD-A828-476B-BF0A-36A834D1A209}" srcId="{FF3AFA3E-A17F-4926-8FA3-1B5040267768}" destId="{81A7ABE0-D9E0-4454-ACFD-E8AC0951E24E}" srcOrd="2" destOrd="0" parTransId="{0C80ECF6-98CC-4F4D-9302-43CEAF8BFC3E}" sibTransId="{4168A14E-A09A-45D5-886D-20166008C837}"/>
    <dgm:cxn modelId="{5A1C29E4-E08C-421A-9939-E9573E51AFAF}" type="presOf" srcId="{81A7ABE0-D9E0-4454-ACFD-E8AC0951E24E}" destId="{55F51F17-9BC8-49A5-A8B2-680662CA7A09}" srcOrd="0" destOrd="3" presId="urn:microsoft.com/office/officeart/2009/3/layout/StepUpProcess"/>
    <dgm:cxn modelId="{54172EEB-F9AE-4AE2-B34C-1BED75D1D01D}" srcId="{FF3AFA3E-A17F-4926-8FA3-1B5040267768}" destId="{426A3A5D-F1ED-4B52-B357-04B04340743B}" srcOrd="3" destOrd="0" parTransId="{D084A44A-7A2E-4FEB-91FE-455B0334395C}" sibTransId="{FC385AF4-AD26-4031-A3CF-0D54F592530D}"/>
    <dgm:cxn modelId="{449517F6-065B-4C51-B408-ECFC6A0B0713}" srcId="{1A5C42D6-D78D-4FDC-B0A9-341E11073EDF}" destId="{14BEADAE-6CFD-4351-8000-B432BCA4B3E8}" srcOrd="4" destOrd="0" parTransId="{7D6522D7-29C9-4271-BBA9-845E792855B7}" sibTransId="{4F8658EC-2ADA-4C15-A232-3C8CB996420A}"/>
    <dgm:cxn modelId="{84CE45FE-5063-4613-8711-1505509942E1}" srcId="{4573F0F9-FB64-40C7-B061-1FABBAE904B3}" destId="{FF3AFA3E-A17F-4926-8FA3-1B5040267768}" srcOrd="0" destOrd="0" parTransId="{2D574139-CE57-497C-BEB8-BA4E5844E993}" sibTransId="{3171AF9B-7558-4A78-8F23-828226CA340F}"/>
    <dgm:cxn modelId="{C1C7D794-9131-477D-9444-948AA453C5E1}" type="presParOf" srcId="{FEDBDD91-06B4-47EA-B844-A2ADF041063F}" destId="{65307C8E-787D-4911-A7F7-3BA3ED304FEB}" srcOrd="0" destOrd="0" presId="urn:microsoft.com/office/officeart/2009/3/layout/StepUpProcess"/>
    <dgm:cxn modelId="{10E4EBF3-28CD-4A9F-A578-D974681A6468}" type="presParOf" srcId="{65307C8E-787D-4911-A7F7-3BA3ED304FEB}" destId="{BE56770A-CC28-41A8-B3B7-F7C0E86C406B}" srcOrd="0" destOrd="0" presId="urn:microsoft.com/office/officeart/2009/3/layout/StepUpProcess"/>
    <dgm:cxn modelId="{C3B5C303-EA0B-4195-956F-B88E28478C10}" type="presParOf" srcId="{65307C8E-787D-4911-A7F7-3BA3ED304FEB}" destId="{55F51F17-9BC8-49A5-A8B2-680662CA7A09}" srcOrd="1" destOrd="0" presId="urn:microsoft.com/office/officeart/2009/3/layout/StepUpProcess"/>
    <dgm:cxn modelId="{CA848FD0-F4BB-4027-85FB-0BD21FD44381}" type="presParOf" srcId="{65307C8E-787D-4911-A7F7-3BA3ED304FEB}" destId="{C03B0680-AB51-4867-B8B2-79FED38B3E55}" srcOrd="2" destOrd="0" presId="urn:microsoft.com/office/officeart/2009/3/layout/StepUpProcess"/>
    <dgm:cxn modelId="{53053AA6-2B33-4894-A536-F54D640256CF}" type="presParOf" srcId="{FEDBDD91-06B4-47EA-B844-A2ADF041063F}" destId="{022D85EA-D01C-4363-953F-D845F05E00CB}" srcOrd="1" destOrd="0" presId="urn:microsoft.com/office/officeart/2009/3/layout/StepUpProcess"/>
    <dgm:cxn modelId="{B91613A4-7EDF-4288-A6A0-47B5516608FD}" type="presParOf" srcId="{022D85EA-D01C-4363-953F-D845F05E00CB}" destId="{99C70B4D-506B-46F7-8B76-72C360BEEF2A}" srcOrd="0" destOrd="0" presId="urn:microsoft.com/office/officeart/2009/3/layout/StepUpProcess"/>
    <dgm:cxn modelId="{E39FCCDE-845C-49AB-A952-13B21E51FA51}" type="presParOf" srcId="{FEDBDD91-06B4-47EA-B844-A2ADF041063F}" destId="{09F43F9C-C3FE-4D7C-A68E-017CF793C480}" srcOrd="2" destOrd="0" presId="urn:microsoft.com/office/officeart/2009/3/layout/StepUpProcess"/>
    <dgm:cxn modelId="{77C5CD2A-4D35-40EE-83C5-C6F233BB9C68}" type="presParOf" srcId="{09F43F9C-C3FE-4D7C-A68E-017CF793C480}" destId="{2DCD2D33-9B20-4FD7-8672-68B5C48C3FF7}" srcOrd="0" destOrd="0" presId="urn:microsoft.com/office/officeart/2009/3/layout/StepUpProcess"/>
    <dgm:cxn modelId="{F8F7C556-B82C-4D94-A49E-841DC3EEB9D1}" type="presParOf" srcId="{09F43F9C-C3FE-4D7C-A68E-017CF793C480}" destId="{3DCEB314-BE3C-4EE4-9E67-F6F1E5B71607}" srcOrd="1" destOrd="0" presId="urn:microsoft.com/office/officeart/2009/3/layout/StepUpProcess"/>
    <dgm:cxn modelId="{02151DAA-BFD8-4873-80E7-D31D57591C52}" type="presParOf" srcId="{09F43F9C-C3FE-4D7C-A68E-017CF793C480}" destId="{104044D5-EC8D-4793-A61A-55816FE08EB5}" srcOrd="2" destOrd="0" presId="urn:microsoft.com/office/officeart/2009/3/layout/StepUpProcess"/>
    <dgm:cxn modelId="{BFA3A6B1-DDE5-46EA-9971-C519D6383A01}" type="presParOf" srcId="{FEDBDD91-06B4-47EA-B844-A2ADF041063F}" destId="{75280525-CCE7-47D8-AAF8-110DDC992E62}" srcOrd="3" destOrd="0" presId="urn:microsoft.com/office/officeart/2009/3/layout/StepUpProcess"/>
    <dgm:cxn modelId="{4D605E27-B6EA-477E-8E40-51B4B1C67895}" type="presParOf" srcId="{75280525-CCE7-47D8-AAF8-110DDC992E62}" destId="{1858FB80-4B7B-496D-ACFC-DA5883FA3F59}" srcOrd="0" destOrd="0" presId="urn:microsoft.com/office/officeart/2009/3/layout/StepUpProcess"/>
    <dgm:cxn modelId="{5F92A8C7-EF59-4417-98D0-E524679A924F}" type="presParOf" srcId="{FEDBDD91-06B4-47EA-B844-A2ADF041063F}" destId="{AC8057C2-26E0-4DEF-8C46-7F16535CF2A4}" srcOrd="4" destOrd="0" presId="urn:microsoft.com/office/officeart/2009/3/layout/StepUpProcess"/>
    <dgm:cxn modelId="{E22ADF4F-CD5E-4AAC-8987-2F709EF3B393}" type="presParOf" srcId="{AC8057C2-26E0-4DEF-8C46-7F16535CF2A4}" destId="{F3D84DEB-41C1-418C-9DFE-A3A104EA4FAE}" srcOrd="0" destOrd="0" presId="urn:microsoft.com/office/officeart/2009/3/layout/StepUpProcess"/>
    <dgm:cxn modelId="{0081F624-E2F7-4D98-B128-04D7440B017A}" type="presParOf" srcId="{AC8057C2-26E0-4DEF-8C46-7F16535CF2A4}" destId="{ED4948FF-1496-4BBC-8DE2-96B9AE8EF267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B61DEF-FF40-42DC-A3AB-EC1F809C5770}">
      <dsp:nvSpPr>
        <dsp:cNvPr id="0" name=""/>
        <dsp:cNvSpPr/>
      </dsp:nvSpPr>
      <dsp:spPr>
        <a:xfrm>
          <a:off x="0" y="189952"/>
          <a:ext cx="7819012" cy="793800"/>
        </a:xfrm>
        <a:prstGeom prst="rect">
          <a:avLst/>
        </a:pr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842" tIns="187452" rIns="606842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Autonomous and private engineering/degree colleges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Tier-3 cities and rural areas (focus: Telangana, Karnataka, Andhra Pradesh to start)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500-2,000 students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AICTE-approved, autonomous or affiliated to state universities</a:t>
          </a:r>
          <a:endParaRPr lang="en-IN" sz="900" kern="1200" dirty="0"/>
        </a:p>
      </dsp:txBody>
      <dsp:txXfrm>
        <a:off x="0" y="189952"/>
        <a:ext cx="7819012" cy="793800"/>
      </dsp:txXfrm>
    </dsp:sp>
    <dsp:sp modelId="{89DD31DD-2093-43D6-B51E-D72CA1A5D4D7}">
      <dsp:nvSpPr>
        <dsp:cNvPr id="0" name=""/>
        <dsp:cNvSpPr/>
      </dsp:nvSpPr>
      <dsp:spPr>
        <a:xfrm>
          <a:off x="390950" y="57112"/>
          <a:ext cx="5473308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878" tIns="0" rIns="20687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Primary ICP: Tier-3 Colleges</a:t>
          </a:r>
        </a:p>
      </dsp:txBody>
      <dsp:txXfrm>
        <a:off x="403919" y="70081"/>
        <a:ext cx="5447370" cy="239742"/>
      </dsp:txXfrm>
    </dsp:sp>
    <dsp:sp modelId="{A9D372A4-1C26-42E9-B0B2-02DCC90E51DB}">
      <dsp:nvSpPr>
        <dsp:cNvPr id="0" name=""/>
        <dsp:cNvSpPr/>
      </dsp:nvSpPr>
      <dsp:spPr>
        <a:xfrm>
          <a:off x="0" y="1165192"/>
          <a:ext cx="7819012" cy="793800"/>
        </a:xfrm>
        <a:prstGeom prst="rect">
          <a:avLst/>
        </a:pr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842" tIns="187452" rIns="606842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Weak placement records compared to Tier-1/2 colleges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Lack of industry connections and mentorship networks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Students have talent but lack direction and real-world exposure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Management wants to improve brand reputation and student outcomes</a:t>
          </a:r>
          <a:endParaRPr lang="en-IN" sz="900" kern="1200" dirty="0"/>
        </a:p>
      </dsp:txBody>
      <dsp:txXfrm>
        <a:off x="0" y="1165192"/>
        <a:ext cx="7819012" cy="793800"/>
      </dsp:txXfrm>
    </dsp:sp>
    <dsp:sp modelId="{D56911EC-6870-4E03-9AA3-CA3B2A8ADD01}">
      <dsp:nvSpPr>
        <dsp:cNvPr id="0" name=""/>
        <dsp:cNvSpPr/>
      </dsp:nvSpPr>
      <dsp:spPr>
        <a:xfrm>
          <a:off x="390950" y="1032353"/>
          <a:ext cx="5473308" cy="265680"/>
        </a:xfrm>
        <a:prstGeom prst="roundRect">
          <a:avLst/>
        </a:prstGeom>
        <a:solidFill>
          <a:srgbClr val="B71E42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878" tIns="0" rIns="20687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solidFill>
                <a:prstClr val="white"/>
              </a:solidFill>
              <a:latin typeface="Gill Sans MT"/>
              <a:ea typeface="+mn-ea"/>
              <a:cs typeface="+mn-cs"/>
            </a:rPr>
            <a:t>Pain Points</a:t>
          </a:r>
        </a:p>
      </dsp:txBody>
      <dsp:txXfrm>
        <a:off x="403919" y="1045322"/>
        <a:ext cx="5447370" cy="239742"/>
      </dsp:txXfrm>
    </dsp:sp>
    <dsp:sp modelId="{612C5135-BC9C-41DA-89C6-9C2835239A14}">
      <dsp:nvSpPr>
        <dsp:cNvPr id="0" name=""/>
        <dsp:cNvSpPr/>
      </dsp:nvSpPr>
      <dsp:spPr>
        <a:xfrm>
          <a:off x="0" y="2140433"/>
          <a:ext cx="7819012" cy="652050"/>
        </a:xfrm>
        <a:prstGeom prst="rect">
          <a:avLst/>
        </a:pr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842" tIns="187452" rIns="606842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Principal/Management has vision for innovation but lacks structured framework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Open to multi-year partnerships (not just one-off events)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Willing to invest in ecosystem transformation (budget availability)</a:t>
          </a:r>
          <a:endParaRPr lang="en-IN" sz="900" kern="1200" dirty="0"/>
        </a:p>
      </dsp:txBody>
      <dsp:txXfrm>
        <a:off x="0" y="2140433"/>
        <a:ext cx="7819012" cy="652050"/>
      </dsp:txXfrm>
    </dsp:sp>
    <dsp:sp modelId="{ADACE7FB-B25F-43DE-A189-18C44573B851}">
      <dsp:nvSpPr>
        <dsp:cNvPr id="0" name=""/>
        <dsp:cNvSpPr/>
      </dsp:nvSpPr>
      <dsp:spPr>
        <a:xfrm>
          <a:off x="390950" y="2007593"/>
          <a:ext cx="5473308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878" tIns="0" rIns="20687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Ambition Level:</a:t>
          </a:r>
        </a:p>
      </dsp:txBody>
      <dsp:txXfrm>
        <a:off x="403919" y="2020562"/>
        <a:ext cx="5447370" cy="239742"/>
      </dsp:txXfrm>
    </dsp:sp>
    <dsp:sp modelId="{BA0C3699-45B4-4036-8823-BAC9E629C914}">
      <dsp:nvSpPr>
        <dsp:cNvPr id="0" name=""/>
        <dsp:cNvSpPr/>
      </dsp:nvSpPr>
      <dsp:spPr>
        <a:xfrm>
          <a:off x="0" y="2973923"/>
          <a:ext cx="7819012" cy="652050"/>
        </a:xfrm>
        <a:prstGeom prst="rect">
          <a:avLst/>
        </a:pr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842" tIns="187452" rIns="606842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Principal/Director (final authority)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Dean (Academic)/HODs (influencers)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Training &amp; Placement Officer (stakeholder)</a:t>
          </a:r>
        </a:p>
      </dsp:txBody>
      <dsp:txXfrm>
        <a:off x="0" y="2973923"/>
        <a:ext cx="7819012" cy="652050"/>
      </dsp:txXfrm>
    </dsp:sp>
    <dsp:sp modelId="{C3776772-53CE-4CF1-AFB5-D0798E004DD3}">
      <dsp:nvSpPr>
        <dsp:cNvPr id="0" name=""/>
        <dsp:cNvSpPr/>
      </dsp:nvSpPr>
      <dsp:spPr>
        <a:xfrm>
          <a:off x="390950" y="2841083"/>
          <a:ext cx="5473308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878" tIns="0" rIns="20687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Decision Makers:</a:t>
          </a:r>
        </a:p>
      </dsp:txBody>
      <dsp:txXfrm>
        <a:off x="403919" y="2854052"/>
        <a:ext cx="5447370" cy="239742"/>
      </dsp:txXfrm>
    </dsp:sp>
    <dsp:sp modelId="{D61EB7C9-BD5D-4FD2-B82D-0D57817578A0}">
      <dsp:nvSpPr>
        <dsp:cNvPr id="0" name=""/>
        <dsp:cNvSpPr/>
      </dsp:nvSpPr>
      <dsp:spPr>
        <a:xfrm>
          <a:off x="0" y="3807413"/>
          <a:ext cx="7819012" cy="793800"/>
        </a:xfrm>
        <a:prstGeom prst="rect">
          <a:avLst/>
        </a:pr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842" tIns="187452" rIns="606842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College recently started innovation/incubation cell but lacks traction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Management has attended conferences about innovation/entrepreneurship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College has alumni who became entrepreneurs (untapped potential)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Located in district headquarters or small cities with local industry presence</a:t>
          </a:r>
          <a:endParaRPr lang="en-IN" sz="900" kern="1200" dirty="0"/>
        </a:p>
      </dsp:txBody>
      <dsp:txXfrm>
        <a:off x="0" y="3807413"/>
        <a:ext cx="7819012" cy="793800"/>
      </dsp:txXfrm>
    </dsp:sp>
    <dsp:sp modelId="{2AE5861E-43C2-424C-8E08-844D471B2D45}">
      <dsp:nvSpPr>
        <dsp:cNvPr id="0" name=""/>
        <dsp:cNvSpPr/>
      </dsp:nvSpPr>
      <dsp:spPr>
        <a:xfrm>
          <a:off x="390950" y="3674573"/>
          <a:ext cx="5473308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878" tIns="0" rIns="206878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Indicators of Good-Fit ICP:</a:t>
          </a:r>
        </a:p>
      </dsp:txBody>
      <dsp:txXfrm>
        <a:off x="403919" y="3687542"/>
        <a:ext cx="5447370" cy="2397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6770A-CC28-41A8-B3B7-F7C0E86C406B}">
      <dsp:nvSpPr>
        <dsp:cNvPr id="0" name=""/>
        <dsp:cNvSpPr/>
      </dsp:nvSpPr>
      <dsp:spPr>
        <a:xfrm rot="5400000">
          <a:off x="998649" y="1146992"/>
          <a:ext cx="1979181" cy="3293314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51F17-9BC8-49A5-A8B2-680662CA7A09}">
      <dsp:nvSpPr>
        <dsp:cNvPr id="0" name=""/>
        <dsp:cNvSpPr/>
      </dsp:nvSpPr>
      <dsp:spPr>
        <a:xfrm>
          <a:off x="668274" y="2130983"/>
          <a:ext cx="2973222" cy="2606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Objective:</a:t>
          </a:r>
          <a:r>
            <a:rPr lang="en-US" sz="1200" b="0" i="0" kern="1200" dirty="0"/>
            <a:t> Move from vision to productized offering with validated messaging</a:t>
          </a:r>
          <a:endParaRPr lang="en-IN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 dirty="0"/>
            <a:t>2-3 Program SKUs</a:t>
          </a:r>
          <a:r>
            <a:rPr lang="en-US" sz="900" b="0" i="0" kern="1200" dirty="0"/>
            <a:t> — Packaged clear offerings (e.g., Year-long Campus Ecosystem, 6-month Innovation Track, Faculty Bootcamp)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 dirty="0"/>
            <a:t>Clarified ICP &amp; Build Target List</a:t>
          </a:r>
          <a:r>
            <a:rPr lang="en-US" sz="900" b="0" i="0" kern="1200" dirty="0"/>
            <a:t> — Document ideal college profile (Tier-3 autonomous/private, weak placements, ambitious management) and create prioritized list of 30-40 colleges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 dirty="0"/>
            <a:t>Created Outcome Framework</a:t>
          </a:r>
          <a:r>
            <a:rPr lang="en-US" sz="900" b="0" i="0" kern="1200" dirty="0"/>
            <a:t> — Defined measurable impact metrics (# prototypes, startups launched, internship conversions, faculty trained)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 dirty="0"/>
            <a:t>Building GTM Assets v1</a:t>
          </a:r>
          <a:r>
            <a:rPr lang="en-US" sz="900" b="0" i="0" kern="1200" dirty="0"/>
            <a:t> — One-pager for Principals, 6-slide sales deck, landing page copy, pricing tiers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 dirty="0"/>
            <a:t>Ran 10-15 Discovery Calls</a:t>
          </a:r>
          <a:r>
            <a:rPr lang="en-US" sz="900" b="0" i="0" kern="1200" dirty="0"/>
            <a:t> — Interview target colleges to validate pain points, and decision-making cycles</a:t>
          </a:r>
        </a:p>
      </dsp:txBody>
      <dsp:txXfrm>
        <a:off x="668274" y="2130983"/>
        <a:ext cx="2973222" cy="2606203"/>
      </dsp:txXfrm>
    </dsp:sp>
    <dsp:sp modelId="{C03B0680-AB51-4867-B8B2-79FED38B3E55}">
      <dsp:nvSpPr>
        <dsp:cNvPr id="0" name=""/>
        <dsp:cNvSpPr/>
      </dsp:nvSpPr>
      <dsp:spPr>
        <a:xfrm>
          <a:off x="3080511" y="904534"/>
          <a:ext cx="560985" cy="56098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D2D33-9B20-4FD7-8672-68B5C48C3FF7}">
      <dsp:nvSpPr>
        <dsp:cNvPr id="0" name=""/>
        <dsp:cNvSpPr/>
      </dsp:nvSpPr>
      <dsp:spPr>
        <a:xfrm rot="5400000">
          <a:off x="4638454" y="246318"/>
          <a:ext cx="1979181" cy="3293314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EB314-BE3C-4EE4-9E67-F6F1E5B71607}">
      <dsp:nvSpPr>
        <dsp:cNvPr id="0" name=""/>
        <dsp:cNvSpPr/>
      </dsp:nvSpPr>
      <dsp:spPr>
        <a:xfrm>
          <a:off x="4308079" y="1230310"/>
          <a:ext cx="2973222" cy="2606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Objective:</a:t>
          </a:r>
          <a:r>
            <a:rPr lang="en-US" sz="1200" b="0" i="0" kern="1200" dirty="0"/>
            <a:t> Launch pilots and generate social proof for case-study-driven selling</a:t>
          </a:r>
          <a:endParaRPr lang="en-IN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/>
            <a:t>Launch 3-5 Pilot Campuses</a:t>
          </a:r>
          <a:r>
            <a:rPr lang="en-US" sz="900" b="0" i="0" kern="1200"/>
            <a:t> — Execute structured 90-day programs with defined cohorts, problem statements, mentor calendar, and demo days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/>
            <a:t>Standardize Delivery Playbooks</a:t>
          </a:r>
          <a:r>
            <a:rPr lang="en-US" sz="900" b="0" i="0" kern="1200"/>
            <a:t> — Document program templates, weekly calendars, mentor guidelines, and college reporting dashboards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/>
            <a:t>Produce 2-3 Case Studies</a:t>
          </a:r>
          <a:r>
            <a:rPr lang="en-US" sz="900" b="0" i="0" kern="1200"/>
            <a:t> — Publish mini-success stories with college names, starting maturity levels, outcomes, and testimonials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/>
            <a:t>Build Thought Leadership Engine</a:t>
          </a:r>
          <a:r>
            <a:rPr lang="en-US" sz="900" b="0" i="0" kern="1200"/>
            <a:t> — Post 2x/week on LinkedIn about Tier-3 innovation, publish 5-10 student/faculty testimonial videos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 dirty="0"/>
            <a:t>Convert Pilots to Renewals</a:t>
          </a:r>
          <a:r>
            <a:rPr lang="en-US" sz="900" b="0" i="0" kern="1200" dirty="0"/>
            <a:t> — Secure multi-year commitments from pilot colleges and initiate 1-2 ecosystem partnerships (e.g., skill-tech or CSR tie-ups)</a:t>
          </a:r>
        </a:p>
      </dsp:txBody>
      <dsp:txXfrm>
        <a:off x="4308079" y="1230310"/>
        <a:ext cx="2973222" cy="2606203"/>
      </dsp:txXfrm>
    </dsp:sp>
    <dsp:sp modelId="{104044D5-EC8D-4793-A61A-55816FE08EB5}">
      <dsp:nvSpPr>
        <dsp:cNvPr id="0" name=""/>
        <dsp:cNvSpPr/>
      </dsp:nvSpPr>
      <dsp:spPr>
        <a:xfrm>
          <a:off x="6720316" y="3861"/>
          <a:ext cx="560985" cy="56098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84DEB-41C1-418C-9DFE-A3A104EA4FAE}">
      <dsp:nvSpPr>
        <dsp:cNvPr id="0" name=""/>
        <dsp:cNvSpPr/>
      </dsp:nvSpPr>
      <dsp:spPr>
        <a:xfrm rot="5400000">
          <a:off x="8278259" y="-654354"/>
          <a:ext cx="1979181" cy="3293314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948FF-1496-4BBC-8DE2-96B9AE8EF267}">
      <dsp:nvSpPr>
        <dsp:cNvPr id="0" name=""/>
        <dsp:cNvSpPr/>
      </dsp:nvSpPr>
      <dsp:spPr>
        <a:xfrm>
          <a:off x="7947884" y="329636"/>
          <a:ext cx="2973222" cy="2606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Objective:</a:t>
          </a:r>
          <a:r>
            <a:rPr lang="en-US" sz="1200" b="0" i="0" kern="1200" dirty="0"/>
            <a:t> Establish regional ecosystem presence and hit 10-15 paying colleges</a:t>
          </a:r>
          <a:endParaRPr lang="en-IN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 dirty="0"/>
            <a:t>Launch Cluster Ecosystem Model</a:t>
          </a:r>
          <a:r>
            <a:rPr lang="en-US" sz="900" b="0" i="0" kern="1200" dirty="0"/>
            <a:t> — Identify 1 "lead college" + 3-5 surrounding colleges per district to create regional innovation hubs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/>
            <a:t>Publish Impact Snapshot 2026</a:t>
          </a:r>
          <a:r>
            <a:rPr lang="en-US" sz="900" b="0" i="0" kern="1200"/>
            <a:t> — Release mini annual report with metrics (colleges onboarded, students reached, prototypes, startups, regional breakdown)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/>
            <a:t>Run Regional Campus Innovation Summit</a:t>
          </a:r>
          <a:r>
            <a:rPr lang="en-US" sz="900" b="0" i="0" kern="1200"/>
            <a:t> — Host offline event with 100-150 attendees (principals, faculty, students, local industry) for visibility and pipeline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/>
            <a:t>Target 10-15 Paying Colleges</a:t>
          </a:r>
          <a:r>
            <a:rPr lang="en-US" sz="900" b="0" i="0" kern="1200"/>
            <a:t> — Close contracts with at least 3 colleges at Level 4 maturity (Ecosystem-Driven) showing demonstrable transformation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1" i="0" kern="1200"/>
            <a:t>Build State/CSR Partnership Pipeline</a:t>
          </a:r>
          <a:r>
            <a:rPr lang="en-US" sz="900" b="0" i="0" kern="1200"/>
            <a:t> — Begin discussions with state education departments or corporate CSR programs to underwrite rural college programs</a:t>
          </a:r>
        </a:p>
      </dsp:txBody>
      <dsp:txXfrm>
        <a:off x="7947884" y="329636"/>
        <a:ext cx="2973222" cy="26062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  <p:transition spd="med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  <p:transition spd="med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  <p:transition spd="med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  <p:transition spd="med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  <p:transition spd="med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  <p:transition spd="med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  <p:transition spd="med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  <p:transition spd="med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  <p:transition spd="med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  <p:transition spd="med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5/8/2026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  <p:transition spd="med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5/8/2026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ransition spd="med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A56C-7A25-4BD4-AA72-5256E68BE4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INNOVAT BHARAT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CF363-1123-45B1-8A9A-ABCDA40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575164"/>
            <a:ext cx="8637072" cy="977621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2026 JOURNEY by FOUNDING TEAM</a:t>
            </a:r>
          </a:p>
          <a:p>
            <a:endParaRPr lang="en-US" dirty="0"/>
          </a:p>
        </p:txBody>
      </p:sp>
      <p:pic>
        <p:nvPicPr>
          <p:cNvPr id="5" name="Graphic 4" descr="Brain in head icon&#10;">
            <a:extLst>
              <a:ext uri="{FF2B5EF4-FFF2-40B4-BE49-F238E27FC236}">
                <a16:creationId xmlns:a16="http://schemas.microsoft.com/office/drawing/2014/main" id="{D011E263-3212-4780-A140-E652B108BD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299" y="3783614"/>
            <a:ext cx="1440000" cy="144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D68E63-8FFD-DE56-DA7A-95B194AE7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39478" y="754575"/>
            <a:ext cx="5176083" cy="282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9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/>
              <a:t>Context 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Strategic Goal:</a:t>
            </a:r>
            <a:r>
              <a:rPr lang="en-US" dirty="0"/>
              <a:t> Position </a:t>
            </a:r>
            <a:r>
              <a:rPr lang="en-US" dirty="0" err="1"/>
              <a:t>Innovat</a:t>
            </a:r>
            <a:r>
              <a:rPr lang="en-US" dirty="0"/>
              <a:t> Bharat as the preferred ecosystem partner for Tier-3 colleges</a:t>
            </a:r>
          </a:p>
          <a:p>
            <a:r>
              <a:rPr lang="en-US" b="1" dirty="0"/>
              <a:t>Vision Alignment:</a:t>
            </a:r>
            <a:r>
              <a:rPr lang="en-US" dirty="0"/>
              <a:t> 1M rural entrepreneurs by 2047 from Tier-3/rural colleges</a:t>
            </a:r>
          </a:p>
          <a:p>
            <a:r>
              <a:rPr lang="en-IN" b="1" dirty="0"/>
              <a:t>Competitive Landscape Review: (Mahesh ji to add)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  <p:transition spd="med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37A08-A567-F746-0DF5-82BADCB20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6030-FC7C-889A-A6E1-5ED9A9298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IN" b="1" dirty="0"/>
              <a:t>Target Audience &amp; Messaging 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545B8-B838-09DD-DE27-C3B23E378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ICP Definition</a:t>
            </a:r>
            <a:endParaRPr lang="en-IN" dirty="0"/>
          </a:p>
          <a:p>
            <a:pPr lvl="1"/>
            <a:r>
              <a:rPr lang="en-IN" b="1" dirty="0"/>
              <a:t>Primary: </a:t>
            </a:r>
            <a:r>
              <a:rPr lang="en-IN" dirty="0"/>
              <a:t>Tier-3 autonomous/private college management (Principals, Deans, TPOs)</a:t>
            </a:r>
          </a:p>
          <a:p>
            <a:pPr lvl="1"/>
            <a:r>
              <a:rPr lang="en-IN" b="1" dirty="0"/>
              <a:t>Secondary: </a:t>
            </a:r>
            <a:r>
              <a:rPr lang="en-IN" dirty="0"/>
              <a:t>Faculty champions, students/parents, CSR/ecosystem partners</a:t>
            </a:r>
          </a:p>
          <a:p>
            <a:r>
              <a:rPr lang="en-IN" b="1" dirty="0"/>
              <a:t>Messaging Pillars</a:t>
            </a:r>
            <a:endParaRPr lang="en-IN" dirty="0"/>
          </a:p>
          <a:p>
            <a:pPr lvl="1"/>
            <a:r>
              <a:rPr lang="en-IN" b="1" dirty="0"/>
              <a:t>Not just training:</a:t>
            </a:r>
            <a:r>
              <a:rPr lang="en-IN" dirty="0"/>
              <a:t> Deep ecosystem transformation vs. one-off workshops</a:t>
            </a:r>
          </a:p>
          <a:p>
            <a:pPr lvl="1"/>
            <a:r>
              <a:rPr lang="en-IN" b="1" dirty="0"/>
              <a:t>Bharat-centric:</a:t>
            </a:r>
            <a:r>
              <a:rPr lang="en-IN" dirty="0"/>
              <a:t> Grassroots entrepreneurship from small-town talent</a:t>
            </a:r>
          </a:p>
          <a:p>
            <a:pPr lvl="1"/>
            <a:r>
              <a:rPr lang="en-IN" b="1" dirty="0"/>
              <a:t>Long-term impact:</a:t>
            </a:r>
            <a:r>
              <a:rPr lang="en-IN" dirty="0"/>
              <a:t> Multi-year transformation, not placement metrics alone</a:t>
            </a:r>
          </a:p>
        </p:txBody>
      </p:sp>
    </p:spTree>
    <p:extLst>
      <p:ext uri="{BB962C8B-B14F-4D97-AF65-F5344CB8AC3E}">
        <p14:creationId xmlns:p14="http://schemas.microsoft.com/office/powerpoint/2010/main" val="1948559414"/>
      </p:ext>
    </p:extLst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499719"/>
            <a:ext cx="9603275" cy="1049235"/>
          </a:xfrm>
        </p:spPr>
        <p:txBody>
          <a:bodyPr/>
          <a:lstStyle/>
          <a:p>
            <a:r>
              <a:rPr lang="en-IN" b="1" dirty="0"/>
              <a:t>Innovat Bharat's ICP (Ideal Customer Profile)</a:t>
            </a:r>
            <a:endParaRPr lang="en-IN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934741B-03B3-839A-B0E9-BAFBD261D1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183950"/>
              </p:ext>
            </p:extLst>
          </p:nvPr>
        </p:nvGraphicFramePr>
        <p:xfrm>
          <a:off x="2031999" y="1480008"/>
          <a:ext cx="7819012" cy="4658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9431650"/>
      </p:ext>
    </p:extLst>
  </p:cSld>
  <p:clrMapOvr>
    <a:masterClrMapping/>
  </p:clrMapOvr>
  <p:transition spd="med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IN" b="1" dirty="0"/>
              <a:t>120-Day Roadmap 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2E8375-933D-2019-5D98-F02B1CB58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5369595"/>
              </p:ext>
            </p:extLst>
          </p:nvPr>
        </p:nvGraphicFramePr>
        <p:xfrm>
          <a:off x="445401" y="1480010"/>
          <a:ext cx="11262690" cy="4739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A7B3AFB9-F51D-3676-BFB4-78842AC893CD}"/>
              </a:ext>
            </a:extLst>
          </p:cNvPr>
          <p:cNvGrpSpPr/>
          <p:nvPr/>
        </p:nvGrpSpPr>
        <p:grpSpPr>
          <a:xfrm>
            <a:off x="1366568" y="3304172"/>
            <a:ext cx="2394726" cy="249656"/>
            <a:chOff x="668274" y="2130983"/>
            <a:chExt cx="2973222" cy="260620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AF1660-6A27-C634-DDA1-06191B279CEB}"/>
                </a:ext>
              </a:extLst>
            </p:cNvPr>
            <p:cNvSpPr/>
            <p:nvPr/>
          </p:nvSpPr>
          <p:spPr>
            <a:xfrm>
              <a:off x="668274" y="2130983"/>
              <a:ext cx="2973222" cy="260620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25CB5A-2580-9904-9BDE-2C06D69B14C4}"/>
                </a:ext>
              </a:extLst>
            </p:cNvPr>
            <p:cNvSpPr txBox="1"/>
            <p:nvPr/>
          </p:nvSpPr>
          <p:spPr>
            <a:xfrm>
              <a:off x="668274" y="2130983"/>
              <a:ext cx="2973222" cy="26062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b="1" i="0" kern="1200" dirty="0"/>
                <a:t>Days 0-60 — Build Foundation</a:t>
              </a:r>
              <a:endParaRPr lang="en-IN" sz="12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D362AC-CD70-B01B-0E6F-EC7EDA30515C}"/>
              </a:ext>
            </a:extLst>
          </p:cNvPr>
          <p:cNvGrpSpPr/>
          <p:nvPr/>
        </p:nvGrpSpPr>
        <p:grpSpPr>
          <a:xfrm>
            <a:off x="4969177" y="2410194"/>
            <a:ext cx="2394726" cy="249656"/>
            <a:chOff x="668274" y="2130983"/>
            <a:chExt cx="2973222" cy="260620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444EAC-B2FA-162E-9D51-198A4E4A03A5}"/>
                </a:ext>
              </a:extLst>
            </p:cNvPr>
            <p:cNvSpPr/>
            <p:nvPr/>
          </p:nvSpPr>
          <p:spPr>
            <a:xfrm>
              <a:off x="668274" y="2130983"/>
              <a:ext cx="2973222" cy="260620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8D7BBA-AE92-83F3-618D-39EAC335EE5B}"/>
                </a:ext>
              </a:extLst>
            </p:cNvPr>
            <p:cNvSpPr txBox="1"/>
            <p:nvPr/>
          </p:nvSpPr>
          <p:spPr>
            <a:xfrm>
              <a:off x="668274" y="2130983"/>
              <a:ext cx="2973222" cy="26062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b="1" i="0" kern="1200" dirty="0"/>
                <a:t>Days 60-90 — Build Foundation</a:t>
              </a:r>
              <a:endParaRPr lang="en-IN" sz="1200" kern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1BC204-F9B0-361B-2831-266EF96FF3C6}"/>
              </a:ext>
            </a:extLst>
          </p:cNvPr>
          <p:cNvGrpSpPr/>
          <p:nvPr/>
        </p:nvGrpSpPr>
        <p:grpSpPr>
          <a:xfrm>
            <a:off x="8675479" y="1525638"/>
            <a:ext cx="2394726" cy="249656"/>
            <a:chOff x="668274" y="2130983"/>
            <a:chExt cx="2973222" cy="260620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F01450-B300-C804-FB2F-3DD7D11D323E}"/>
                </a:ext>
              </a:extLst>
            </p:cNvPr>
            <p:cNvSpPr/>
            <p:nvPr/>
          </p:nvSpPr>
          <p:spPr>
            <a:xfrm>
              <a:off x="668274" y="2130983"/>
              <a:ext cx="2973222" cy="260620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509A5A-C3B6-1A77-3693-2CA14F238CCC}"/>
                </a:ext>
              </a:extLst>
            </p:cNvPr>
            <p:cNvSpPr txBox="1"/>
            <p:nvPr/>
          </p:nvSpPr>
          <p:spPr>
            <a:xfrm>
              <a:off x="668274" y="2130983"/>
              <a:ext cx="2973222" cy="26062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200" b="1" i="0" kern="1200" dirty="0"/>
                <a:t>Days 60-90 — Build Foundation</a:t>
              </a:r>
              <a:endParaRPr lang="en-IN" sz="1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12936521"/>
      </p:ext>
    </p:extLst>
  </p:cSld>
  <p:clrMapOvr>
    <a:masterClrMapping/>
  </p:clrMapOvr>
  <p:transition spd="med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39C168-8509-3AD4-5330-F17E114E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 TO DOMINANCE: VALUE LEAP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3B0A3-545D-5DC7-0509-8DD96946A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70" y="1506480"/>
            <a:ext cx="11046909" cy="48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04621"/>
      </p:ext>
    </p:extLst>
  </p:cSld>
  <p:clrMapOvr>
    <a:masterClrMapping/>
  </p:clrMapOvr>
  <p:transition spd="med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DE869-8C2F-8681-1C5F-2A6F1E728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5AAF92-3584-2D80-3C4E-B44A7656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Maturity matrix</a:t>
            </a:r>
            <a:endParaRPr lang="en-IN" dirty="0"/>
          </a:p>
        </p:txBody>
      </p:sp>
      <p:graphicFrame>
        <p:nvGraphicFramePr>
          <p:cNvPr id="2" name="Google Shape;122;p15">
            <a:extLst>
              <a:ext uri="{FF2B5EF4-FFF2-40B4-BE49-F238E27FC236}">
                <a16:creationId xmlns:a16="http://schemas.microsoft.com/office/drawing/2014/main" id="{85DD6EAD-FD6A-584B-555C-252EC35B2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4456005"/>
              </p:ext>
            </p:extLst>
          </p:nvPr>
        </p:nvGraphicFramePr>
        <p:xfrm>
          <a:off x="571500" y="2274540"/>
          <a:ext cx="11034725" cy="26098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5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8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Domain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Level 1: Portal (Testbed)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Level 2: Program (Defined)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Level 3: Platform (Managed)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Level 4: Peer League (Optimized)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Entrepreneurship  Dept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IB-2026 (Current)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Scaling Reach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Limited Pilot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Regional Growth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Placement ROI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None/Implicit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Cert-focused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In-house Leads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Brand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Subdomain URL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Niche Credibility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Regional Trust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Global Recruiter Peer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05351"/>
      </p:ext>
    </p:extLst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222A-0050-42E6-8C3E-86E3C365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09" y="798974"/>
            <a:ext cx="9610182" cy="601226"/>
          </a:xfrm>
        </p:spPr>
        <p:txBody>
          <a:bodyPr/>
          <a:lstStyle/>
          <a:p>
            <a:r>
              <a:rPr lang="en-US" dirty="0"/>
              <a:t>SYNERGY MODEL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87AFF26-13AA-9488-1776-4DC59F274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1100" b="1" dirty="0"/>
              <a:t>On Ground Team</a:t>
            </a:r>
          </a:p>
          <a:p>
            <a:r>
              <a:rPr lang="en-US" sz="900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Execute high-volume student acquisition through automation &amp; campus networks.</a:t>
            </a:r>
            <a:endParaRPr lang="en-US" sz="900" b="1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F5960CA-3566-3B77-A0DE-561445B362A4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sz="1300" b="1" dirty="0"/>
              <a:t>Extended Team </a:t>
            </a:r>
          </a:p>
          <a:p>
            <a:r>
              <a:rPr lang="en-US" sz="1100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Translates Peer Benchmarks into technical requirements. Audits the Maturity Matrix periodically.</a:t>
            </a:r>
            <a:endParaRPr lang="en-US" sz="1100" dirty="0"/>
          </a:p>
          <a:p>
            <a:endParaRPr lang="en-IN" sz="11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959F9D3-45E1-A990-2F44-D76EAE5051B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65229" y="5144978"/>
            <a:ext cx="3277796" cy="807405"/>
          </a:xfrm>
        </p:spPr>
        <p:txBody>
          <a:bodyPr>
            <a:normAutofit fontScale="55000" lnSpcReduction="20000"/>
          </a:bodyPr>
          <a:lstStyle/>
          <a:p>
            <a:r>
              <a:rPr lang="en-IN" sz="2000" b="1" dirty="0"/>
              <a:t>Founding Team</a:t>
            </a:r>
          </a:p>
          <a:p>
            <a:r>
              <a:rPr lang="en-US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Guardian of the 120-Day Vision. Prioritizes the backlog to ensure we hit "League Peer" status, not just "Feature" status.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2D9CBD-4FC6-1A7E-453E-EE526C632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280075"/>
              </p:ext>
            </p:extLst>
          </p:nvPr>
        </p:nvGraphicFramePr>
        <p:xfrm>
          <a:off x="708582" y="1677758"/>
          <a:ext cx="10774836" cy="27686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795806">
                  <a:extLst>
                    <a:ext uri="{9D8B030D-6E8A-4147-A177-3AD203B41FA5}">
                      <a16:colId xmlns:a16="http://schemas.microsoft.com/office/drawing/2014/main" val="2882754513"/>
                    </a:ext>
                  </a:extLst>
                </a:gridCol>
                <a:gridCol w="1795806">
                  <a:extLst>
                    <a:ext uri="{9D8B030D-6E8A-4147-A177-3AD203B41FA5}">
                      <a16:colId xmlns:a16="http://schemas.microsoft.com/office/drawing/2014/main" val="3665333561"/>
                    </a:ext>
                  </a:extLst>
                </a:gridCol>
                <a:gridCol w="1795806">
                  <a:extLst>
                    <a:ext uri="{9D8B030D-6E8A-4147-A177-3AD203B41FA5}">
                      <a16:colId xmlns:a16="http://schemas.microsoft.com/office/drawing/2014/main" val="290397670"/>
                    </a:ext>
                  </a:extLst>
                </a:gridCol>
                <a:gridCol w="1795806">
                  <a:extLst>
                    <a:ext uri="{9D8B030D-6E8A-4147-A177-3AD203B41FA5}">
                      <a16:colId xmlns:a16="http://schemas.microsoft.com/office/drawing/2014/main" val="3258361508"/>
                    </a:ext>
                  </a:extLst>
                </a:gridCol>
                <a:gridCol w="1795806">
                  <a:extLst>
                    <a:ext uri="{9D8B030D-6E8A-4147-A177-3AD203B41FA5}">
                      <a16:colId xmlns:a16="http://schemas.microsoft.com/office/drawing/2014/main" val="348619960"/>
                    </a:ext>
                  </a:extLst>
                </a:gridCol>
                <a:gridCol w="1795806">
                  <a:extLst>
                    <a:ext uri="{9D8B030D-6E8A-4147-A177-3AD203B41FA5}">
                      <a16:colId xmlns:a16="http://schemas.microsoft.com/office/drawing/2014/main" val="3974578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College Out Reach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Social 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Information Systems &amp;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Network with eminent personalities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Website, Data &amp;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Sessions (SKUs)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234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Mahesh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Suma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Uday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Mahesh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Narayanamurthy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Amit 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30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Suma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Mounika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Keerthan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Amit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Mahesh 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87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Amit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Lalitha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Raghav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Vishal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Suma 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56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Deepak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Kunal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Suma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319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Satyaprakash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Raghav 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164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294028"/>
      </p:ext>
    </p:extLst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Strategic Enhancements</a:t>
            </a:r>
          </a:p>
        </p:txBody>
      </p:sp>
      <p:pic>
        <p:nvPicPr>
          <p:cNvPr id="84" name="Google Shape;84;p13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" y="1104900"/>
            <a:ext cx="7172325" cy="4771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5;p14">
            <a:extLst>
              <a:ext uri="{FF2B5EF4-FFF2-40B4-BE49-F238E27FC236}">
                <a16:creationId xmlns:a16="http://schemas.microsoft.com/office/drawing/2014/main" id="{3DE46D69-4D27-5022-65D2-F3E1555943B8}"/>
              </a:ext>
            </a:extLst>
          </p:cNvPr>
          <p:cNvSpPr txBox="1"/>
          <p:nvPr/>
        </p:nvSpPr>
        <p:spPr>
          <a:xfrm>
            <a:off x="7219950" y="2149029"/>
            <a:ext cx="304694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Level 1: Strategy Hub</a:t>
            </a:r>
            <a:endParaRPr sz="1050" dirty="0"/>
          </a:p>
        </p:txBody>
      </p:sp>
      <p:sp>
        <p:nvSpPr>
          <p:cNvPr id="13" name="Google Shape;96;p14">
            <a:extLst>
              <a:ext uri="{FF2B5EF4-FFF2-40B4-BE49-F238E27FC236}">
                <a16:creationId xmlns:a16="http://schemas.microsoft.com/office/drawing/2014/main" id="{A36535AC-F467-AB27-EFD2-A7934684ADB3}"/>
              </a:ext>
            </a:extLst>
          </p:cNvPr>
          <p:cNvSpPr txBox="1"/>
          <p:nvPr/>
        </p:nvSpPr>
        <p:spPr>
          <a:xfrm>
            <a:off x="7210425" y="3165393"/>
            <a:ext cx="30470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Level 2: Regional Execution</a:t>
            </a:r>
            <a:endParaRPr sz="1100" dirty="0"/>
          </a:p>
        </p:txBody>
      </p:sp>
      <p:sp>
        <p:nvSpPr>
          <p:cNvPr id="14" name="Google Shape;97;p14">
            <a:extLst>
              <a:ext uri="{FF2B5EF4-FFF2-40B4-BE49-F238E27FC236}">
                <a16:creationId xmlns:a16="http://schemas.microsoft.com/office/drawing/2014/main" id="{DD16B414-27AC-884E-384C-6A99CAACB8FC}"/>
              </a:ext>
            </a:extLst>
          </p:cNvPr>
          <p:cNvSpPr txBox="1"/>
          <p:nvPr/>
        </p:nvSpPr>
        <p:spPr>
          <a:xfrm>
            <a:off x="7219950" y="4275767"/>
            <a:ext cx="304694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Level 3: On-Ground Force</a:t>
            </a:r>
            <a:endParaRPr sz="1100" dirty="0"/>
          </a:p>
        </p:txBody>
      </p:sp>
      <p:sp>
        <p:nvSpPr>
          <p:cNvPr id="15" name="Google Shape;99;p14">
            <a:extLst>
              <a:ext uri="{FF2B5EF4-FFF2-40B4-BE49-F238E27FC236}">
                <a16:creationId xmlns:a16="http://schemas.microsoft.com/office/drawing/2014/main" id="{6C6A63DB-BC23-7C42-E49F-4A2D8243A247}"/>
              </a:ext>
            </a:extLst>
          </p:cNvPr>
          <p:cNvSpPr txBox="1"/>
          <p:nvPr/>
        </p:nvSpPr>
        <p:spPr>
          <a:xfrm>
            <a:off x="7141531" y="2318306"/>
            <a:ext cx="50123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Roadmap Alignment: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Synthesizes high-level market data into a unified strategy to achieve parity with top-tier industry peers.</a:t>
            </a:r>
            <a:endParaRPr sz="1050" dirty="0"/>
          </a:p>
        </p:txBody>
      </p:sp>
      <p:sp>
        <p:nvSpPr>
          <p:cNvPr id="16" name="Google Shape;101;p14">
            <a:extLst>
              <a:ext uri="{FF2B5EF4-FFF2-40B4-BE49-F238E27FC236}">
                <a16:creationId xmlns:a16="http://schemas.microsoft.com/office/drawing/2014/main" id="{FC603422-5BF5-74D0-3B37-8994AF25A560}"/>
              </a:ext>
            </a:extLst>
          </p:cNvPr>
          <p:cNvSpPr txBox="1"/>
          <p:nvPr/>
        </p:nvSpPr>
        <p:spPr>
          <a:xfrm>
            <a:off x="7141531" y="2607704"/>
            <a:ext cx="50123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Resource Deployment: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Directs the allocation of digital assets and funding to support hyper-local Tier 3 field logistics.</a:t>
            </a:r>
            <a:endParaRPr sz="1050" dirty="0"/>
          </a:p>
        </p:txBody>
      </p:sp>
      <p:sp>
        <p:nvSpPr>
          <p:cNvPr id="17" name="Google Shape;103;p14">
            <a:extLst>
              <a:ext uri="{FF2B5EF4-FFF2-40B4-BE49-F238E27FC236}">
                <a16:creationId xmlns:a16="http://schemas.microsoft.com/office/drawing/2014/main" id="{8715F9BE-E813-EB59-1564-5258EA1DE994}"/>
              </a:ext>
            </a:extLst>
          </p:cNvPr>
          <p:cNvSpPr txBox="1"/>
          <p:nvPr/>
        </p:nvSpPr>
        <p:spPr>
          <a:xfrm>
            <a:off x="7141531" y="3347832"/>
            <a:ext cx="491711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Cluster Supervision: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Manages multiple district teams to ensure operational consistency and brand integrity across town-level nodes.</a:t>
            </a:r>
            <a:endParaRPr sz="900" dirty="0"/>
          </a:p>
        </p:txBody>
      </p:sp>
      <p:sp>
        <p:nvSpPr>
          <p:cNvPr id="18" name="Google Shape;105;p14">
            <a:extLst>
              <a:ext uri="{FF2B5EF4-FFF2-40B4-BE49-F238E27FC236}">
                <a16:creationId xmlns:a16="http://schemas.microsoft.com/office/drawing/2014/main" id="{4545FAEF-B7E5-A5A9-9E97-11A2A60E1BA0}"/>
              </a:ext>
            </a:extLst>
          </p:cNvPr>
          <p:cNvSpPr txBox="1"/>
          <p:nvPr/>
        </p:nvSpPr>
        <p:spPr>
          <a:xfrm>
            <a:off x="7143750" y="3615360"/>
            <a:ext cx="48482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Institutional Access: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Negotiates with University Boards and Deans to secure official academic credits and campus-wide recognition.</a:t>
            </a:r>
            <a:endParaRPr sz="900" dirty="0"/>
          </a:p>
        </p:txBody>
      </p:sp>
      <p:sp>
        <p:nvSpPr>
          <p:cNvPr id="19" name="Google Shape;107;p14">
            <a:extLst>
              <a:ext uri="{FF2B5EF4-FFF2-40B4-BE49-F238E27FC236}">
                <a16:creationId xmlns:a16="http://schemas.microsoft.com/office/drawing/2014/main" id="{B8CB6612-ED73-F239-9E94-FA3C384A73DD}"/>
              </a:ext>
            </a:extLst>
          </p:cNvPr>
          <p:cNvSpPr txBox="1"/>
          <p:nvPr/>
        </p:nvSpPr>
        <p:spPr>
          <a:xfrm>
            <a:off x="7141530" y="4445044"/>
            <a:ext cx="47456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Professor Stewardship: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Conduct periodic face-to-face interactions with HODs to align student projects with faculty academic goals.</a:t>
            </a:r>
            <a:endParaRPr sz="900" dirty="0"/>
          </a:p>
        </p:txBody>
      </p:sp>
      <p:sp>
        <p:nvSpPr>
          <p:cNvPr id="20" name="Google Shape;109;p14">
            <a:extLst>
              <a:ext uri="{FF2B5EF4-FFF2-40B4-BE49-F238E27FC236}">
                <a16:creationId xmlns:a16="http://schemas.microsoft.com/office/drawing/2014/main" id="{B5A7E75F-010E-CA16-448B-C67470DA20D9}"/>
              </a:ext>
            </a:extLst>
          </p:cNvPr>
          <p:cNvSpPr txBox="1"/>
          <p:nvPr/>
        </p:nvSpPr>
        <p:spPr>
          <a:xfrm>
            <a:off x="7141529" y="4771096"/>
            <a:ext cx="47456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Student Mobilization: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Lead peer-led labs and vernacular engagement to reduce technical intimidation in smaller campus environments.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  <p:transition spd="med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7484-DFF2-0867-1E39-4ECC5414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So?</a:t>
            </a:r>
          </a:p>
        </p:txBody>
      </p:sp>
      <p:sp>
        <p:nvSpPr>
          <p:cNvPr id="4" name="Google Shape;245;p24">
            <a:extLst>
              <a:ext uri="{FF2B5EF4-FFF2-40B4-BE49-F238E27FC236}">
                <a16:creationId xmlns:a16="http://schemas.microsoft.com/office/drawing/2014/main" id="{F77077E4-B91F-F133-08A9-21F4AF589BFF}"/>
              </a:ext>
            </a:extLst>
          </p:cNvPr>
          <p:cNvSpPr txBox="1"/>
          <p:nvPr/>
        </p:nvSpPr>
        <p:spPr>
          <a:xfrm>
            <a:off x="295275" y="1897409"/>
            <a:ext cx="11601450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Ready for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Takeover?</a:t>
            </a:r>
            <a:endParaRPr dirty="0"/>
          </a:p>
        </p:txBody>
      </p:sp>
      <p:sp>
        <p:nvSpPr>
          <p:cNvPr id="5" name="Google Shape;246;p24">
            <a:extLst>
              <a:ext uri="{FF2B5EF4-FFF2-40B4-BE49-F238E27FC236}">
                <a16:creationId xmlns:a16="http://schemas.microsoft.com/office/drawing/2014/main" id="{59EB11EA-98A2-121D-6A54-862707A47559}"/>
              </a:ext>
            </a:extLst>
          </p:cNvPr>
          <p:cNvSpPr txBox="1"/>
          <p:nvPr/>
        </p:nvSpPr>
        <p:spPr>
          <a:xfrm>
            <a:off x="571500" y="3745259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Join the Bridge. Become the League.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8975277"/>
      </p:ext>
    </p:extLst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130</TotalTime>
  <Words>1010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Gill Sans MT</vt:lpstr>
      <vt:lpstr>Lato</vt:lpstr>
      <vt:lpstr>Montserrat</vt:lpstr>
      <vt:lpstr>Poppins</vt:lpstr>
      <vt:lpstr>Tahoma</vt:lpstr>
      <vt:lpstr>Urbanist</vt:lpstr>
      <vt:lpstr>Gallery</vt:lpstr>
      <vt:lpstr>INNOVAT BHARAT</vt:lpstr>
      <vt:lpstr>Context setting</vt:lpstr>
      <vt:lpstr>Target Audience &amp; Messaging </vt:lpstr>
      <vt:lpstr>Innovat Bharat's ICP (Ideal Customer Profile)</vt:lpstr>
      <vt:lpstr>120-Day Roadmap </vt:lpstr>
      <vt:lpstr>ROAD TO DOMINANCE: VALUE LEAP</vt:lpstr>
      <vt:lpstr>Maturity matrix</vt:lpstr>
      <vt:lpstr>SYNERGY MODEL</vt:lpstr>
      <vt:lpstr>Strategic Enhancements</vt:lpstr>
      <vt:lpstr>So?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Narayanamurthy Tadepalli</dc:creator>
  <cp:lastModifiedBy>Sreepadma tadepalli</cp:lastModifiedBy>
  <cp:revision>4</cp:revision>
  <dcterms:created xsi:type="dcterms:W3CDTF">2026-05-08T16:13:31Z</dcterms:created>
  <dcterms:modified xsi:type="dcterms:W3CDTF">2026-05-08T18:24:00Z</dcterms:modified>
</cp:coreProperties>
</file>