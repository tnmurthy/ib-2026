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7"/>
  </p:normalViewPr>
  <p:slideViewPr>
    <p:cSldViewPr snapToGrid="0">
      <p:cViewPr varScale="1">
        <p:scale>
          <a:sx n="124" d="100"/>
          <a:sy n="124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8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463040" y="3931920"/>
            <a:ext cx="3657600" cy="3657600"/>
          </a:xfrm>
          <a:prstGeom prst="ellipse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FFFFFF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731520" y="2240280"/>
            <a:ext cx="10728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Startup Name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280160" y="3611880"/>
            <a:ext cx="9631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line description of what you are trying to 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9768" y="4343400"/>
            <a:ext cx="585216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169768" y="434340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[Co-founder 1 Name]   ·   [Co-founder 2 Name]   ·   [Co-founder 3 Name]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4956048"/>
            <a:ext cx="103628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Incubated at / College E-Cell (if applicable)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438248" y="580644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4117"/>
            </a:srgbClr>
          </a:solidFill>
          <a:ln w="9525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438248" y="5806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Fill in as much information as you have and leave any slides blank where the information is not available.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Team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66928" y="1874520"/>
            <a:ext cx="3246120" cy="386791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oogle Shape;3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788" y="213055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0532" y="2331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566928" y="3154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Co-Founder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34472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8186B"/>
                </a:solidFill>
                <a:latin typeface="Calibri"/>
                <a:ea typeface="Calibri"/>
                <a:cs typeface="Calibri"/>
                <a:sym typeface="Calibri"/>
              </a:rPr>
              <a:t>[Role, e.g. CEO &amp; Co-founder]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41248" y="3703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Short bio in 2-3 bullet points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087368" y="1874520"/>
            <a:ext cx="3246120" cy="386791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3228" y="213055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0972" y="2331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4087368" y="3154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Co-Founder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087368" y="3447288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8186B"/>
                </a:solidFill>
                <a:latin typeface="Calibri"/>
                <a:ea typeface="Calibri"/>
                <a:cs typeface="Calibri"/>
                <a:sym typeface="Calibri"/>
              </a:rPr>
              <a:t>[Role, e.g. CTO &amp; Co-founder]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361688" y="37033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950"/>
              <a:buFont typeface="Calibri"/>
              <a:buNone/>
            </a:pPr>
            <a:r>
              <a:rPr lang="en-US" sz="95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Short bio in 2-3  bullet points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607808" y="1874520"/>
            <a:ext cx="4016959" cy="3867912"/>
          </a:xfrm>
          <a:prstGeom prst="roundRect">
            <a:avLst>
              <a:gd name="adj" fmla="val 5447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08976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24190" y="2190902"/>
            <a:ext cx="153619" cy="15361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8321040" y="2039112"/>
            <a:ext cx="3102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Advisors &amp; Mentors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321040" y="2350008"/>
            <a:ext cx="310255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Who's guiding you, and the value they bring.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795528" y="10195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66928" y="1965960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22905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749808" y="22905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316736" y="2125980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State the core problem in one sharp sentence.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3379724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37099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749808" y="37099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316736" y="3545332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Who suffers from it – and how do they cope today?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66928" y="4793488"/>
            <a:ext cx="6126480" cy="1033272"/>
          </a:xfrm>
          <a:prstGeom prst="roundRect">
            <a:avLst>
              <a:gd name="adj" fmla="val 1282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9808" y="51181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749808" y="51181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316736" y="4953508"/>
            <a:ext cx="52120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Why it matters: the cost of leaving it unsolved.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3448" y="1965960"/>
            <a:ext cx="4611319" cy="386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6056" y="22768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306056" y="2807208"/>
            <a:ext cx="41541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STAT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306056" y="3063240"/>
            <a:ext cx="402610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“[X]% of [target users] experience this problem.”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306056" y="3941064"/>
            <a:ext cx="4026103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 (primary or secondary)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800100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The Solution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66928" y="19202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700"/>
              <a:buFont typeface="Montserrat"/>
              <a:buNone/>
            </a:pPr>
            <a:r>
              <a:rPr lang="en-US" sz="17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[Product / Service Name]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6928" y="23317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250"/>
              <a:buFont typeface="Calibri"/>
              <a:buNone/>
            </a:pPr>
            <a:r>
              <a:rPr lang="en-US" sz="12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Write 2–3 sentences on what your product does and how it works. Focus on the USER – what can they now do that they couldn't before?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3246120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332384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1024128" y="3209544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Benefit 1 – what the user gains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3975608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4053332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024128" y="3939032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Benefit 2 – another gain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4745736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652" y="482346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1024128" y="4709160"/>
            <a:ext cx="5394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Benefit 3 – one more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928" y="5468112"/>
            <a:ext cx="475488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566928" y="5468112"/>
            <a:ext cx="47548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STAGE: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Ideation / Product Ready / Prototype / Revenue Stage / Other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739128" y="1920240"/>
            <a:ext cx="4885639" cy="3986784"/>
          </a:xfrm>
          <a:prstGeom prst="roundRect">
            <a:avLst>
              <a:gd name="adj" fmla="val 3429"/>
            </a:avLst>
          </a:prstGeom>
          <a:solidFill>
            <a:srgbClr val="F5F4FB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348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3076" y="31363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7013448" y="3566160"/>
            <a:ext cx="433699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Paste a screenshot, mockup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or product photo here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777240" y="10012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Product / Service – How It Works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66928" y="1874520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/>
          <p:nvPr/>
        </p:nvSpPr>
        <p:spPr>
          <a:xfrm>
            <a:off x="566928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70432" y="2240280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Step 1  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What the user does first.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7"/>
          <p:cNvCxnSpPr/>
          <p:nvPr/>
        </p:nvCxnSpPr>
        <p:spPr>
          <a:xfrm>
            <a:off x="777240" y="2660904"/>
            <a:ext cx="0" cy="1362456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2" name="Google Shape;112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566928" y="40233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70432" y="4023360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Step 2  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What happens next.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7"/>
          <p:cNvCxnSpPr/>
          <p:nvPr/>
        </p:nvCxnSpPr>
        <p:spPr>
          <a:xfrm>
            <a:off x="777240" y="4443984"/>
            <a:ext cx="0" cy="1069848"/>
          </a:xfrm>
          <a:prstGeom prst="straightConnector1">
            <a:avLst/>
          </a:prstGeom>
          <a:noFill/>
          <a:ln w="1905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566928" y="55138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170432" y="5513832"/>
            <a:ext cx="49377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Step 3  </a:t>
            </a:r>
            <a:r>
              <a:rPr lang="en-US" sz="12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outcome they walk away with.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64808" y="1874520"/>
            <a:ext cx="5159959" cy="3611880"/>
          </a:xfrm>
          <a:prstGeom prst="roundRect">
            <a:avLst>
              <a:gd name="adj" fmla="val 3038"/>
            </a:avLst>
          </a:prstGeom>
          <a:solidFill>
            <a:srgbClr val="F5F4FB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6188" y="31775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25916" y="32964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6739128" y="3726180"/>
            <a:ext cx="4611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Add a demo (image/video)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or a short flow diagram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showing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566929" y="4599432"/>
            <a:ext cx="5852160" cy="1754632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/>
          <p:nvPr/>
        </p:nvSpPr>
        <p:spPr>
          <a:xfrm>
            <a:off x="841248" y="101498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Market Opportunity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965960"/>
            <a:ext cx="585216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841248" y="203911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TAM    </a:t>
            </a:r>
            <a:r>
              <a:rPr lang="en-US" sz="125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 ₹ ___ ]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41248" y="2350008"/>
            <a:ext cx="5394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Total market for this solution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928" y="2807208"/>
            <a:ext cx="448056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841248" y="2880360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    </a:t>
            </a:r>
            <a:r>
              <a:rPr lang="en-U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 ₹ ___ 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41248" y="31912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The slice you can realistically reach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928" y="3648456"/>
            <a:ext cx="320040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841248" y="3721608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SOM    </a:t>
            </a:r>
            <a:r>
              <a:rPr lang="en-US" sz="1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 ₹ ___ 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41248" y="40325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E1EE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F3E1EE"/>
                </a:solidFill>
                <a:latin typeface="Calibri"/>
                <a:ea typeface="Calibri"/>
                <a:cs typeface="Calibri"/>
                <a:sym typeface="Calibri"/>
              </a:rPr>
              <a:t>What you'll capture in 3–5 years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50773" y="5297424"/>
            <a:ext cx="528447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Show how you sized the market — state your assumptions and methodology.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693408" y="1965960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7728" y="2240280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18604" y="23911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7653528" y="2258568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Why now?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67728" y="2743200"/>
            <a:ext cx="43827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trend, shift, or tailwind that makes this the right moment to build.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693408" y="4379976"/>
            <a:ext cx="4931359" cy="1974088"/>
          </a:xfrm>
          <a:prstGeom prst="roundRect">
            <a:avLst>
              <a:gd name="adj" fmla="val 7742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67728" y="4626864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18604" y="47777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653528" y="4645152"/>
            <a:ext cx="374263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600"/>
              <a:buFont typeface="Montserrat"/>
              <a:buNone/>
            </a:pPr>
            <a:r>
              <a:rPr lang="en-US" sz="16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Your early adopters?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967728" y="5129784"/>
            <a:ext cx="4382719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specific first segment you'll win before expanding outward.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10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821283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Business Model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757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" name="Google Shape;16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87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708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5757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Who pays?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500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Describe the customer. e.g. 'College students 18–24' or 'Corporate HR managers'.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864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44619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49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570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44619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How they pay?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7362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Subscription ₹X/mo, one-time purchase, freemium, commission %, etc.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72679" y="27660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8348167" y="189738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51187" y="2171700"/>
            <a:ext cx="640080" cy="64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43211" y="23637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8348167" y="292150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500"/>
              <a:buFont typeface="Montserrat"/>
              <a:buNone/>
            </a:pPr>
            <a:r>
              <a:rPr lang="en-US" sz="15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Revenue per customer?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22487" y="3250692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How much one customer spends?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e.g. '₹499/month' or '₹2,000/year'.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696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1283" y="44780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443" y="46151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415643" y="447802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Unit economics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21283" y="4953508"/>
            <a:ext cx="4843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Cost to acquire a customer (CAC) vs. value they bring (LTV), and your gross margin.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3043" y="4203700"/>
            <a:ext cx="5391760" cy="20116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7363" y="447802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4523" y="46151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/>
          <p:nvPr/>
        </p:nvSpPr>
        <p:spPr>
          <a:xfrm>
            <a:off x="7081723" y="4478020"/>
            <a:ext cx="429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Revenue streams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87363" y="4953508"/>
            <a:ext cx="4843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Your primary stream today – and the streams you'll add as you grow.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9"/>
          <p:cNvPicPr preferRelativeResize="0"/>
          <p:nvPr/>
        </p:nvPicPr>
        <p:blipFill rotWithShape="1">
          <a:blip r:embed="rId12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Roadmap &amp; Milestones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1949158" y="2496312"/>
            <a:ext cx="8293379" cy="0"/>
          </a:xfrm>
          <a:prstGeom prst="straightConnector1">
            <a:avLst/>
          </a:prstGeom>
          <a:noFill/>
          <a:ln w="31750" cap="flat" cmpd="sng">
            <a:solidFill>
              <a:srgbClr val="D8D6E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9" name="Google Shape;199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164740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6692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TODAY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3152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1440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Where you are today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3268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Your honest current stage – idea, prototype, beta, live, or earning revenue.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441186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33138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+12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9598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67886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Next milestone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9714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next big goal from where you are now – product, customers, or revenue.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7176326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095848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+2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260440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43320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Scaling milestone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61608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What 'working at scale' looks like for you, on the metric that matters most.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9940785" y="2194560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lang="en-U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8860307" y="2889504"/>
            <a:ext cx="2764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+5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9024899" y="3255264"/>
            <a:ext cx="2435276" cy="2578608"/>
          </a:xfrm>
          <a:prstGeom prst="roundRect">
            <a:avLst>
              <a:gd name="adj" fmla="val 5714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207779" y="3456432"/>
            <a:ext cx="206951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Expansion milestone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9226067" y="4005072"/>
            <a:ext cx="203294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Where you push next – a new segment, geography, or product line.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66928" y="6199632"/>
            <a:ext cx="11057839" cy="475488"/>
          </a:xfrm>
          <a:prstGeom prst="roundRect">
            <a:avLst>
              <a:gd name="adj" fmla="val 19231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944" y="6281928"/>
            <a:ext cx="310896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3524" y="6350508"/>
            <a:ext cx="173736" cy="173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/>
          <p:nvPr/>
        </p:nvSpPr>
        <p:spPr>
          <a:xfrm>
            <a:off x="1133856" y="6199632"/>
            <a:ext cx="103263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050"/>
              <a:buFont typeface="Calibri"/>
              <a:buNone/>
            </a:pPr>
            <a:r>
              <a:rPr lang="en-US" sz="1050" i="1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Phrase each milestone relative to where you are today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841248" y="1024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Key Risks &amp; Mitigation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66928" y="1965960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2258568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2412187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1527048" y="21671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527048" y="24231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Your single biggest risk — market, execution, team, or competitive.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1"/>
          <p:cNvCxnSpPr/>
          <p:nvPr/>
        </p:nvCxnSpPr>
        <p:spPr>
          <a:xfrm>
            <a:off x="6556248" y="2167128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2" name="Google Shape;24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2286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2423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7397496" y="2167128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397496" y="2423160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The concrete step you're already taking to reduce it.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66928" y="3264408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3557016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3710635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1"/>
          <p:cNvSpPr/>
          <p:nvPr/>
        </p:nvSpPr>
        <p:spPr>
          <a:xfrm>
            <a:off x="1527048" y="346557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527048" y="372160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A key assumption or dependency that has to hold true.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1"/>
          <p:cNvCxnSpPr/>
          <p:nvPr/>
        </p:nvCxnSpPr>
        <p:spPr>
          <a:xfrm>
            <a:off x="6556248" y="3465576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2" name="Google Shape;25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358444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37216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7397496" y="346557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397496" y="3721608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How you'll de-risk it — or your plan B if it doesn't.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66928" y="4562856"/>
            <a:ext cx="11057839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7" name="Google Shape;25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" y="4855464"/>
            <a:ext cx="512064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867" y="5009083"/>
            <a:ext cx="204826" cy="2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1527048" y="476402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RISK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527048" y="502005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A regulatory, financial, or operational risk you foresee.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1"/>
          <p:cNvCxnSpPr/>
          <p:nvPr/>
        </p:nvCxnSpPr>
        <p:spPr>
          <a:xfrm>
            <a:off x="6556248" y="4764024"/>
            <a:ext cx="0" cy="694944"/>
          </a:xfrm>
          <a:prstGeom prst="straightConnector1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2" name="Google Shape;262;p1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12280" y="48828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49440" y="50200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7397496" y="4764024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HOW WE'LL TACKLE 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397496" y="5020056"/>
            <a:ext cx="4227271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How you'll monitor it and respond early.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 rotWithShape="1">
          <a:blip r:embed="rId8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566928" y="2154552"/>
            <a:ext cx="11057839" cy="2452440"/>
          </a:xfrm>
          <a:prstGeom prst="rect">
            <a:avLst/>
          </a:prstGeom>
          <a:noFill/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66928" y="2793840"/>
            <a:ext cx="3291840" cy="625224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" name="Google Shape;27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841248" y="1036704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Competition &amp; Your Advantage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828800"/>
            <a:ext cx="1105783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749808" y="1828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 / Advantage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8587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ontserrat"/>
              <a:buNone/>
            </a:pPr>
            <a:r>
              <a:rPr lang="en-US" sz="11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[Your Startup]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8002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[Competitor A]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741768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[Competitor B]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9683267" y="1828800"/>
            <a:ext cx="1941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[Status Quo]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3858768" y="2285999"/>
            <a:ext cx="1941500" cy="2320991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749808" y="22860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Capability 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146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35145" y="23957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/>
          <p:nvPr/>
        </p:nvSpPr>
        <p:spPr>
          <a:xfrm>
            <a:off x="749808" y="287952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Capability 2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52146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3645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29892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749808" y="347304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Capability 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146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35827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2"/>
          <p:cNvSpPr/>
          <p:nvPr/>
        </p:nvSpPr>
        <p:spPr>
          <a:xfrm>
            <a:off x="566928" y="3982560"/>
            <a:ext cx="3291840" cy="625224"/>
          </a:xfrm>
          <a:prstGeom prst="rect">
            <a:avLst/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49808" y="40665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B1838"/>
                </a:solidFill>
                <a:latin typeface="Calibri"/>
                <a:ea typeface="Calibri"/>
                <a:cs typeface="Calibri"/>
                <a:sym typeface="Calibri"/>
              </a:rPr>
              <a:t>Capability 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0646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2146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93645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5145" y="41763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567080" y="4954464"/>
            <a:ext cx="11057839" cy="1499616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7080" y="4954464"/>
            <a:ext cx="73152" cy="15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688" y="52562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/>
          <p:nvPr/>
        </p:nvSpPr>
        <p:spPr>
          <a:xfrm>
            <a:off x="1344320" y="5256216"/>
            <a:ext cx="10051999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200"/>
              <a:buFont typeface="Montserrat"/>
              <a:buNone/>
            </a:pPr>
            <a:r>
              <a:rPr lang="en-US" sz="1200" b="1" dirty="0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YOUR ADVANTAGE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dirty="0">
              <a:solidFill>
                <a:srgbClr val="55586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What's hard to copy, and why incumbents can't easily follow – community, proprietary data, founder expertise, or an exclusive partnership.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2"/>
          <p:cNvPicPr preferRelativeResize="0"/>
          <p:nvPr/>
        </p:nvPicPr>
        <p:blipFill rotWithShape="1">
          <a:blip r:embed="rId10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795528" y="103327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Financials &amp; The Ask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928" y="1965960"/>
            <a:ext cx="4846320" cy="3941064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932688" y="22402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WANT TO RAISE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32688" y="25146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ontserrat"/>
              <a:buNone/>
            </a:pPr>
            <a:r>
              <a:rPr lang="en-US" sz="20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₹[Amount]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932688" y="31363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OF FUNDS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32688" y="3447288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[X]%  →  Product / Tech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[X]%  →  Marketing / GTM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[X]%  →  Team / Salaries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[X]%  →  Operations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5824728" y="1965960"/>
            <a:ext cx="5800039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3-YEAR SNAPSHOT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824728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5824728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5824728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[ ₹ ]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834274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834274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7834274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[ ₹ ]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9843821" y="2276856"/>
            <a:ext cx="1780946" cy="914400"/>
          </a:xfrm>
          <a:prstGeom prst="roundRect">
            <a:avLst>
              <a:gd name="adj" fmla="val 10000"/>
            </a:avLst>
          </a:prstGeom>
          <a:solidFill>
            <a:srgbClr val="F5F4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9843821" y="2386584"/>
            <a:ext cx="178094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23BE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7A23BE"/>
                </a:solidFill>
                <a:latin typeface="Montserrat"/>
                <a:ea typeface="Montserrat"/>
                <a:cs typeface="Montserrat"/>
                <a:sym typeface="Montserrat"/>
              </a:rPr>
              <a:t>Year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843821" y="2624328"/>
            <a:ext cx="178094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[ ₹ ]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824728" y="3246120"/>
            <a:ext cx="5800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Revenue or core-metric trajectory — keep it high-level. Detailed model → Annexure.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824728" y="3593592"/>
            <a:ext cx="5800039" cy="231343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 cap="flat" cmpd="sng">
            <a:solidFill>
              <a:srgbClr val="E5E4F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1B1838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7336" y="3867912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523" y="3994099"/>
            <a:ext cx="168250" cy="16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/>
          <p:nvPr/>
        </p:nvSpPr>
        <p:spPr>
          <a:xfrm>
            <a:off x="6693408" y="3849624"/>
            <a:ext cx="47027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400"/>
              <a:buFont typeface="Montserrat"/>
              <a:buNone/>
            </a:pPr>
            <a:r>
              <a:rPr lang="en-US" sz="14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What non-monetary support would you like from Vande Bharatam?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117336" y="4343400"/>
            <a:ext cx="52148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86F"/>
              </a:buClr>
              <a:buSzPts val="1150"/>
              <a:buFont typeface="Calibri"/>
              <a:buNone/>
            </a:pPr>
            <a:r>
              <a:rPr lang="en-US" sz="1150" dirty="0">
                <a:solidFill>
                  <a:srgbClr val="55586F"/>
                </a:solidFill>
                <a:latin typeface="Calibri"/>
                <a:ea typeface="Calibri"/>
                <a:cs typeface="Calibri"/>
                <a:sym typeface="Calibri"/>
              </a:rPr>
              <a:t>Be specific: mentorship, connects, etc. – and the milestone the support unlocks.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13"/>
          <p:cNvPicPr preferRelativeResize="0"/>
          <p:nvPr/>
        </p:nvPicPr>
        <p:blipFill rotWithShape="1">
          <a:blip r:embed="rId7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1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Your content here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4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5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Your content here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5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6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3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Your content here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16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928" y="950976"/>
            <a:ext cx="82296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/>
          <p:nvPr/>
        </p:nvSpPr>
        <p:spPr>
          <a:xfrm>
            <a:off x="804672" y="896112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86B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C8186B"/>
                </a:solidFill>
                <a:latin typeface="Montserrat"/>
                <a:ea typeface="Montserrat"/>
                <a:cs typeface="Montserrat"/>
                <a:sym typeface="Montserrat"/>
              </a:rPr>
              <a:t>ANY ADDITIONAL INFORMATION YOU WOULD LIKE US TO KNOW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795528" y="1133856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2700"/>
              <a:buFont typeface="Montserrat"/>
              <a:buNone/>
            </a:pPr>
            <a:r>
              <a:rPr lang="en-US" sz="270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Annexure 4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66928" y="1828800"/>
            <a:ext cx="11057839" cy="4160520"/>
          </a:xfrm>
          <a:prstGeom prst="roundRect">
            <a:avLst>
              <a:gd name="adj" fmla="val 3117"/>
            </a:avLst>
          </a:prstGeom>
          <a:solidFill>
            <a:srgbClr val="FBFBFE"/>
          </a:solidFill>
          <a:ln w="15875" cap="flat" cmpd="sng">
            <a:solidFill>
              <a:srgbClr val="E5E4F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932688" y="3863340"/>
            <a:ext cx="10326319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9CB2"/>
              </a:buClr>
              <a:buSzPts val="1250"/>
              <a:buFont typeface="Calibri"/>
              <a:buNone/>
            </a:pPr>
            <a:r>
              <a:rPr lang="en-US" sz="1250" i="1">
                <a:solidFill>
                  <a:srgbClr val="9A9CB2"/>
                </a:solidFill>
                <a:latin typeface="Calibri"/>
                <a:ea typeface="Calibri"/>
                <a:cs typeface="Calibri"/>
                <a:sym typeface="Calibri"/>
              </a:rPr>
              <a:t>Your content here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016000" y="343408"/>
            <a:ext cx="378764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1838"/>
              </a:buClr>
              <a:buSzPts val="1050"/>
              <a:buFont typeface="Montserrat"/>
              <a:buNone/>
            </a:pPr>
            <a:r>
              <a:rPr lang="en-US" sz="1050" b="1">
                <a:solidFill>
                  <a:srgbClr val="1B1838"/>
                </a:solidFill>
                <a:latin typeface="Montserrat"/>
                <a:ea typeface="Montserrat"/>
                <a:cs typeface="Montserrat"/>
                <a:sym typeface="Montserrat"/>
              </a:rPr>
              <a:t>VANDE BHARATAM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7"/>
          <p:cNvPicPr preferRelativeResize="0"/>
          <p:nvPr/>
        </p:nvPicPr>
        <p:blipFill rotWithShape="1">
          <a:blip r:embed="rId4">
            <a:alphaModFix/>
          </a:blip>
          <a:srcRect r="55655"/>
          <a:stretch/>
        </p:blipFill>
        <p:spPr>
          <a:xfrm>
            <a:off x="566928" y="302768"/>
            <a:ext cx="323705" cy="314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Macintosh PowerPoint</Application>
  <PresentationFormat>Widescreen</PresentationFormat>
  <Paragraphs>171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Rajat Goel</cp:lastModifiedBy>
  <cp:revision>2</cp:revision>
  <dcterms:modified xsi:type="dcterms:W3CDTF">2026-06-22T15:40:41Z</dcterms:modified>
</cp:coreProperties>
</file>